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8" r:id="rId3"/>
    <p:sldId id="257" r:id="rId4"/>
    <p:sldId id="270" r:id="rId5"/>
    <p:sldId id="271" r:id="rId6"/>
    <p:sldId id="259" r:id="rId7"/>
    <p:sldId id="265" r:id="rId8"/>
    <p:sldId id="261" r:id="rId9"/>
    <p:sldId id="262" r:id="rId10"/>
    <p:sldId id="263" r:id="rId11"/>
    <p:sldId id="264" r:id="rId12"/>
    <p:sldId id="266" r:id="rId13"/>
    <p:sldId id="272" r:id="rId14"/>
    <p:sldId id="267" r:id="rId15"/>
    <p:sldId id="273" r:id="rId16"/>
    <p:sldId id="274" r:id="rId17"/>
    <p:sldId id="268"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82" autoAdjust="0"/>
    <p:restoredTop sz="94660"/>
  </p:normalViewPr>
  <p:slideViewPr>
    <p:cSldViewPr>
      <p:cViewPr varScale="1">
        <p:scale>
          <a:sx n="82" d="100"/>
          <a:sy n="82" d="100"/>
        </p:scale>
        <p:origin x="1358" y="5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49A16F-3783-4019-8745-A5B46DDCE5AB}" type="datetimeFigureOut">
              <a:rPr lang="en-US" smtClean="0"/>
              <a:pPr/>
              <a:t>2/10/2024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46CC88E-CA8A-4846-8796-CBDD10BC7266}" type="slidenum">
              <a:rPr lang="en-US" smtClean="0"/>
              <a:pPr/>
              <a:t>‹#›</a:t>
            </a:fld>
            <a:endParaRPr lang="en-US"/>
          </a:p>
        </p:txBody>
      </p:sp>
    </p:spTree>
    <p:extLst>
      <p:ext uri="{BB962C8B-B14F-4D97-AF65-F5344CB8AC3E}">
        <p14:creationId xmlns:p14="http://schemas.microsoft.com/office/powerpoint/2010/main" val="1121751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A6B0001-001E-4156-A94A-44144275BC43}" type="datetime1">
              <a:rPr lang="en-US" smtClean="0"/>
              <a:pPr/>
              <a:t>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0A6B02-1DC0-457F-9457-3E11BC620D6E}" type="datetime1">
              <a:rPr lang="en-US" smtClean="0"/>
              <a:pPr/>
              <a:t>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838BE6-CC63-4C5B-8A40-8770755BCB12}" type="datetime1">
              <a:rPr lang="en-US" smtClean="0"/>
              <a:pPr/>
              <a:t>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EE54E9-7AB1-4168-8BF5-7F76A9D35F5B}" type="datetime1">
              <a:rPr lang="en-US" smtClean="0"/>
              <a:pPr/>
              <a:t>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5D121D3-80A4-4387-9693-FC7168CF0422}" type="datetime1">
              <a:rPr lang="en-US" smtClean="0"/>
              <a:pPr/>
              <a:t>2/10/2024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179959E-0D40-4EB7-B94B-57E2C8B99251}" type="datetime1">
              <a:rPr lang="en-US" smtClean="0"/>
              <a:pPr/>
              <a:t>2/10/2024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AE1BA8-C374-4AF1-AFD8-560A5278B504}" type="datetime1">
              <a:rPr lang="en-US" smtClean="0"/>
              <a:pPr/>
              <a:t>2/10/2024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300BA8-7822-461E-A9FB-EA3816CD2092}" type="datetime1">
              <a:rPr lang="en-US" smtClean="0"/>
              <a:pPr/>
              <a:t>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16B2498-C5E6-41C3-BCE0-2E34705DAE72}" type="datetime1">
              <a:rPr lang="en-US" smtClean="0"/>
              <a:pPr/>
              <a:t>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069FC1-A7D8-4B63-A14F-99ADE6A720AA}" type="datetime1">
              <a:rPr lang="en-US" smtClean="0"/>
              <a:pPr/>
              <a:t>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267F3A7-9A3B-47BF-9A0A-C92E75CE9C40}" type="datetime1">
              <a:rPr lang="en-US" smtClean="0"/>
              <a:pPr/>
              <a:t>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C6EE44-7C1A-4AD5-BDBC-AD8C71B073F1}" type="datetime1">
              <a:rPr lang="en-US" smtClean="0"/>
              <a:pPr/>
              <a:t>2/10/2024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jpeg"/></Relationships>
</file>

<file path=ppt/slides/_rels/slide14.xml.rels><?xml version="1.0" encoding="UTF-8" standalone="yes"?>
<Relationships xmlns="http://schemas.openxmlformats.org/package/2006/relationships"><Relationship Id="rId3" Type="http://schemas.openxmlformats.org/officeDocument/2006/relationships/image" Target="../media/image2.gif"/><Relationship Id="rId7" Type="http://schemas.openxmlformats.org/officeDocument/2006/relationships/image" Target="../media/image12.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2.gif"/><Relationship Id="rId7" Type="http://schemas.openxmlformats.org/officeDocument/2006/relationships/image" Target="../media/image16.jp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20.jpg"/><Relationship Id="rId5" Type="http://schemas.openxmlformats.org/officeDocument/2006/relationships/image" Target="../media/image14.jpg"/><Relationship Id="rId10" Type="http://schemas.openxmlformats.org/officeDocument/2006/relationships/image" Target="../media/image19.jpg"/><Relationship Id="rId4" Type="http://schemas.openxmlformats.org/officeDocument/2006/relationships/image" Target="../media/image13.png"/><Relationship Id="rId9" Type="http://schemas.openxmlformats.org/officeDocument/2006/relationships/image" Target="../media/image18.jpg"/></Relationships>
</file>

<file path=ppt/slides/_rels/slide1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361890"/>
            <a:ext cx="6172200" cy="461665"/>
          </a:xfrm>
          <a:prstGeom prst="rect">
            <a:avLst/>
          </a:prstGeom>
          <a:scene3d>
            <a:camera prst="orthographicFront"/>
            <a:lightRig rig="threePt" dir="t"/>
          </a:scene3d>
          <a:sp3d>
            <a:bevelT/>
          </a:sp3d>
        </p:spPr>
        <p:txBody>
          <a:bodyPr wrap="square">
            <a:spAutoFit/>
          </a:bodyPr>
          <a:lstStyle/>
          <a:p>
            <a:pPr algn="ctr"/>
            <a:r>
              <a:rPr lang="en-US" sz="2400" b="1" dirty="0">
                <a:latin typeface="Times New Roman" pitchFamily="18" charset="0"/>
                <a:cs typeface="Times New Roman" pitchFamily="18" charset="0"/>
              </a:rPr>
              <a:t>PANIMALAR ENGINEERING COLLEGE</a:t>
            </a:r>
          </a:p>
        </p:txBody>
      </p:sp>
      <p:sp>
        <p:nvSpPr>
          <p:cNvPr id="5" name="Rectangle 4"/>
          <p:cNvSpPr/>
          <p:nvPr/>
        </p:nvSpPr>
        <p:spPr>
          <a:xfrm>
            <a:off x="1524000" y="838200"/>
            <a:ext cx="6096000" cy="369332"/>
          </a:xfrm>
          <a:prstGeom prst="rect">
            <a:avLst/>
          </a:prstGeom>
        </p:spPr>
        <p:txBody>
          <a:bodyPr wrap="square">
            <a:spAutoFit/>
          </a:bodyPr>
          <a:lstStyle/>
          <a:p>
            <a:pPr algn="ctr"/>
            <a:r>
              <a:rPr lang="en-US" b="1" dirty="0">
                <a:latin typeface="Times New Roman" pitchFamily="18" charset="0"/>
                <a:cs typeface="Times New Roman" pitchFamily="18" charset="0"/>
              </a:rPr>
              <a:t>Department of Electronics and Instrumentation Engineering</a:t>
            </a:r>
          </a:p>
        </p:txBody>
      </p:sp>
      <p:sp>
        <p:nvSpPr>
          <p:cNvPr id="7" name="TextBox 6"/>
          <p:cNvSpPr txBox="1"/>
          <p:nvPr/>
        </p:nvSpPr>
        <p:spPr>
          <a:xfrm>
            <a:off x="4420366" y="1676400"/>
            <a:ext cx="274434" cy="661207"/>
          </a:xfrm>
          <a:prstGeom prst="rect">
            <a:avLst/>
          </a:prstGeom>
          <a:noFill/>
        </p:spPr>
        <p:txBody>
          <a:bodyPr wrap="none" rtlCol="0">
            <a:spAutoFit/>
          </a:bodyPr>
          <a:lstStyle/>
          <a:p>
            <a:pPr algn="ctr">
              <a:lnSpc>
                <a:spcPct val="150000"/>
              </a:lnSpc>
            </a:pPr>
            <a:r>
              <a:rPr lang="en-US" sz="2800" b="1" dirty="0">
                <a:latin typeface="Times New Roman" pitchFamily="18" charset="0"/>
                <a:cs typeface="Times New Roman" pitchFamily="18" charset="0"/>
              </a:rPr>
              <a:t> </a:t>
            </a:r>
            <a:endParaRPr lang="en-US" sz="2800" dirty="0">
              <a:latin typeface="Times New Roman" pitchFamily="18" charset="0"/>
              <a:cs typeface="Times New Roman" pitchFamily="18" charset="0"/>
            </a:endParaRPr>
          </a:p>
        </p:txBody>
      </p:sp>
      <p:sp>
        <p:nvSpPr>
          <p:cNvPr id="11" name="TextBox 10"/>
          <p:cNvSpPr txBox="1"/>
          <p:nvPr/>
        </p:nvSpPr>
        <p:spPr>
          <a:xfrm>
            <a:off x="3581400" y="3276600"/>
            <a:ext cx="1473480" cy="369332"/>
          </a:xfrm>
          <a:prstGeom prst="rect">
            <a:avLst/>
          </a:prstGeom>
          <a:noFill/>
          <a:ln>
            <a:solidFill>
              <a:schemeClr val="tx1">
                <a:alpha val="99000"/>
              </a:schemeClr>
            </a:solidFill>
          </a:ln>
          <a:effectLst>
            <a:outerShdw blurRad="50800" dist="38100" dir="2700000" algn="tl" rotWithShape="0">
              <a:prstClr val="black">
                <a:alpha val="40000"/>
              </a:prstClr>
            </a:outerShdw>
          </a:effectLst>
        </p:spPr>
        <p:txBody>
          <a:bodyPr wrap="none" rtlCol="0">
            <a:spAutoFit/>
          </a:bodyPr>
          <a:lstStyle/>
          <a:p>
            <a:r>
              <a:rPr lang="en-US" dirty="0">
                <a:latin typeface="Times New Roman" pitchFamily="18" charset="0"/>
                <a:cs typeface="Times New Roman" pitchFamily="18" charset="0"/>
              </a:rPr>
              <a:t>Batch No:  03</a:t>
            </a:r>
          </a:p>
        </p:txBody>
      </p:sp>
      <p:sp>
        <p:nvSpPr>
          <p:cNvPr id="13" name="TextBox 12"/>
          <p:cNvSpPr txBox="1"/>
          <p:nvPr/>
        </p:nvSpPr>
        <p:spPr>
          <a:xfrm>
            <a:off x="389084" y="3902286"/>
            <a:ext cx="3886200" cy="2038828"/>
          </a:xfrm>
          <a:prstGeom prst="rect">
            <a:avLst/>
          </a:prstGeom>
          <a:noFill/>
        </p:spPr>
        <p:txBody>
          <a:bodyPr wrap="square" rtlCol="0">
            <a:spAutoFit/>
          </a:bodyPr>
          <a:lstStyle/>
          <a:p>
            <a:pPr algn="just">
              <a:lnSpc>
                <a:spcPct val="150000"/>
              </a:lnSpc>
            </a:pPr>
            <a:r>
              <a:rPr lang="en-US" b="1" u="sng" dirty="0">
                <a:latin typeface="Times New Roman" pitchFamily="18" charset="0"/>
                <a:cs typeface="Times New Roman" pitchFamily="18" charset="0"/>
              </a:rPr>
              <a:t> Batch Members:</a:t>
            </a:r>
          </a:p>
          <a:p>
            <a:pPr algn="just">
              <a:lnSpc>
                <a:spcPct val="150000"/>
              </a:lnSpc>
            </a:pPr>
            <a:r>
              <a:rPr lang="en-US" dirty="0" err="1">
                <a:latin typeface="Times New Roman" pitchFamily="18" charset="0"/>
                <a:cs typeface="Times New Roman" pitchFamily="18" charset="0"/>
              </a:rPr>
              <a:t>Akshaya.B.C</a:t>
            </a:r>
            <a:r>
              <a:rPr lang="en-US" dirty="0">
                <a:latin typeface="Times New Roman" pitchFamily="18" charset="0"/>
                <a:cs typeface="Times New Roman" pitchFamily="18" charset="0"/>
              </a:rPr>
              <a:t>  (211420107004)</a:t>
            </a:r>
          </a:p>
          <a:p>
            <a:pPr algn="just">
              <a:lnSpc>
                <a:spcPct val="150000"/>
              </a:lnSpc>
            </a:pPr>
            <a:r>
              <a:rPr lang="en-US" dirty="0" err="1">
                <a:latin typeface="Times New Roman" pitchFamily="18" charset="0"/>
                <a:cs typeface="Times New Roman" pitchFamily="18" charset="0"/>
              </a:rPr>
              <a:t>Bhavitha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Enuganti</a:t>
            </a:r>
            <a:r>
              <a:rPr lang="en-US" dirty="0">
                <a:latin typeface="Times New Roman" pitchFamily="18" charset="0"/>
                <a:cs typeface="Times New Roman" pitchFamily="18" charset="0"/>
              </a:rPr>
              <a:t>  (211420107008)</a:t>
            </a:r>
          </a:p>
          <a:p>
            <a:pPr algn="just">
              <a:lnSpc>
                <a:spcPct val="150000"/>
              </a:lnSpc>
            </a:pPr>
            <a:r>
              <a:rPr lang="en-US" dirty="0" err="1">
                <a:latin typeface="Times New Roman" pitchFamily="18" charset="0"/>
                <a:cs typeface="Times New Roman" pitchFamily="18" charset="0"/>
              </a:rPr>
              <a:t>Sangeetha.R</a:t>
            </a:r>
            <a:r>
              <a:rPr lang="en-US" dirty="0">
                <a:latin typeface="Times New Roman" pitchFamily="18" charset="0"/>
                <a:cs typeface="Times New Roman" pitchFamily="18" charset="0"/>
              </a:rPr>
              <a:t>   (211420107022)</a:t>
            </a:r>
          </a:p>
          <a:p>
            <a:pPr algn="just">
              <a:lnSpc>
                <a:spcPct val="150000"/>
              </a:lnSpc>
            </a:pPr>
            <a:r>
              <a:rPr lang="en-US" sz="1400" b="1" u="sng" dirty="0" err="1">
                <a:solidFill>
                  <a:schemeClr val="bg1"/>
                </a:solidFill>
                <a:latin typeface="Times New Roman" pitchFamily="18" charset="0"/>
                <a:cs typeface="Times New Roman" pitchFamily="18" charset="0"/>
              </a:rPr>
              <a:t>aaaaaasghjcvhgushuihjjkhh</a:t>
            </a:r>
            <a:endParaRPr lang="en-US" sz="1400" dirty="0">
              <a:solidFill>
                <a:schemeClr val="bg1"/>
              </a:solidFill>
              <a:latin typeface="Times New Roman" pitchFamily="18" charset="0"/>
              <a:cs typeface="Times New Roman" pitchFamily="18" charset="0"/>
            </a:endParaRPr>
          </a:p>
        </p:txBody>
      </p:sp>
      <p:sp>
        <p:nvSpPr>
          <p:cNvPr id="14" name="Rectangle 13"/>
          <p:cNvSpPr/>
          <p:nvPr/>
        </p:nvSpPr>
        <p:spPr>
          <a:xfrm>
            <a:off x="5486400" y="3886200"/>
            <a:ext cx="3352800" cy="458074"/>
          </a:xfrm>
          <a:prstGeom prst="rect">
            <a:avLst/>
          </a:prstGeom>
        </p:spPr>
        <p:txBody>
          <a:bodyPr wrap="square">
            <a:spAutoFit/>
          </a:bodyPr>
          <a:lstStyle/>
          <a:p>
            <a:pPr algn="just">
              <a:lnSpc>
                <a:spcPct val="150000"/>
              </a:lnSpc>
            </a:pPr>
            <a:r>
              <a:rPr lang="en-US" b="1" u="sng" dirty="0">
                <a:latin typeface="Times New Roman" pitchFamily="18" charset="0"/>
                <a:cs typeface="Times New Roman" pitchFamily="18" charset="0"/>
              </a:rPr>
              <a:t> </a:t>
            </a:r>
            <a:endParaRPr lang="en-US" sz="1400" dirty="0">
              <a:latin typeface="Times New Roman" pitchFamily="18" charset="0"/>
              <a:cs typeface="Times New Roman" pitchFamily="18" charset="0"/>
            </a:endParaRPr>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grpSp>
        <p:nvGrpSpPr>
          <p:cNvPr id="18" name="Group 17"/>
          <p:cNvGrpSpPr/>
          <p:nvPr/>
        </p:nvGrpSpPr>
        <p:grpSpPr>
          <a:xfrm>
            <a:off x="213360" y="182880"/>
            <a:ext cx="8778240" cy="1341120"/>
            <a:chOff x="213360" y="182880"/>
            <a:chExt cx="8778240" cy="1341120"/>
          </a:xfrm>
        </p:grpSpPr>
        <p:pic>
          <p:nvPicPr>
            <p:cNvPr id="15" name="Picture 1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1143000" cy="1123950"/>
            </a:xfrm>
            <a:prstGeom prst="rect">
              <a:avLst/>
            </a:prstGeom>
            <a:noFill/>
            <a:ln>
              <a:noFill/>
            </a:ln>
          </p:spPr>
        </p:pic>
        <p:pic>
          <p:nvPicPr>
            <p:cNvPr id="2050" name="Picture 2" descr="Related image"/>
            <p:cNvPicPr>
              <a:picLocks noChangeAspect="1" noChangeArrowheads="1"/>
            </p:cNvPicPr>
            <p:nvPr/>
          </p:nvPicPr>
          <p:blipFill>
            <a:blip r:embed="rId3" cstate="print"/>
            <a:srcRect/>
            <a:stretch>
              <a:fillRect/>
            </a:stretch>
          </p:blipFill>
          <p:spPr bwMode="auto">
            <a:xfrm>
              <a:off x="7772400" y="182880"/>
              <a:ext cx="1188720" cy="1188720"/>
            </a:xfrm>
            <a:prstGeom prst="rect">
              <a:avLst/>
            </a:prstGeom>
            <a:noFill/>
          </p:spPr>
        </p:pic>
        <p:cxnSp>
          <p:nvCxnSpPr>
            <p:cNvPr id="17" name="Straight Connector 16"/>
            <p:cNvCxnSpPr/>
            <p:nvPr/>
          </p:nvCxnSpPr>
          <p:spPr>
            <a:xfrm>
              <a:off x="213360" y="1524000"/>
              <a:ext cx="8778240"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grpSp>
      <p:sp>
        <p:nvSpPr>
          <p:cNvPr id="3" name="TextBox 2">
            <a:extLst>
              <a:ext uri="{FF2B5EF4-FFF2-40B4-BE49-F238E27FC236}">
                <a16:creationId xmlns:a16="http://schemas.microsoft.com/office/drawing/2014/main" id="{E934360E-E377-34ED-3D3F-872A69DCAC2F}"/>
              </a:ext>
            </a:extLst>
          </p:cNvPr>
          <p:cNvSpPr txBox="1"/>
          <p:nvPr/>
        </p:nvSpPr>
        <p:spPr>
          <a:xfrm flipH="1">
            <a:off x="762000" y="1907977"/>
            <a:ext cx="7924800" cy="1323439"/>
          </a:xfrm>
          <a:prstGeom prst="rect">
            <a:avLst/>
          </a:prstGeom>
          <a:noFill/>
        </p:spPr>
        <p:txBody>
          <a:bodyPr wrap="square" rtlCol="0">
            <a:spAutoFit/>
          </a:bodyPr>
          <a:lstStyle/>
          <a:p>
            <a:r>
              <a:rPr lang="en-US" sz="4000" dirty="0"/>
              <a:t>      </a:t>
            </a:r>
            <a:r>
              <a:rPr lang="en-US" sz="4000" b="1" dirty="0"/>
              <a:t>ORAL CANCER DETECTION USING </a:t>
            </a:r>
          </a:p>
          <a:p>
            <a:r>
              <a:rPr lang="en-US" sz="4000" b="1" dirty="0"/>
              <a:t>                  DEEP LEARNING</a:t>
            </a:r>
            <a:endParaRPr lang="en-IN" sz="4000" b="1" dirty="0"/>
          </a:p>
        </p:txBody>
      </p:sp>
      <p:sp>
        <p:nvSpPr>
          <p:cNvPr id="12" name="TextBox 11">
            <a:extLst>
              <a:ext uri="{FF2B5EF4-FFF2-40B4-BE49-F238E27FC236}">
                <a16:creationId xmlns:a16="http://schemas.microsoft.com/office/drawing/2014/main" id="{FAD1FE89-596C-1888-99C2-FF80F6DA16F5}"/>
              </a:ext>
            </a:extLst>
          </p:cNvPr>
          <p:cNvSpPr txBox="1"/>
          <p:nvPr/>
        </p:nvSpPr>
        <p:spPr>
          <a:xfrm>
            <a:off x="4594549" y="3902286"/>
            <a:ext cx="4334550" cy="1477328"/>
          </a:xfrm>
          <a:prstGeom prst="rect">
            <a:avLst/>
          </a:prstGeom>
          <a:noFill/>
        </p:spPr>
        <p:txBody>
          <a:bodyPr wrap="square" rtlCol="0">
            <a:spAutoFit/>
          </a:bodyPr>
          <a:lstStyle/>
          <a:p>
            <a:r>
              <a:rPr lang="en-US" b="1" u="sng" dirty="0">
                <a:latin typeface="Times New Roman" panose="02020603050405020304" pitchFamily="18" charset="0"/>
                <a:cs typeface="Times New Roman" panose="02020603050405020304" pitchFamily="18" charset="0"/>
              </a:rPr>
              <a:t>Internal Guide:</a:t>
            </a:r>
          </a:p>
          <a:p>
            <a:r>
              <a:rPr lang="en-IN" dirty="0" err="1">
                <a:latin typeface="Times New Roman" panose="02020603050405020304" pitchFamily="18" charset="0"/>
                <a:cs typeface="Times New Roman" panose="02020603050405020304" pitchFamily="18" charset="0"/>
              </a:rPr>
              <a:t>V.Vasudhevan</a:t>
            </a:r>
            <a:r>
              <a:rPr lang="en-IN" dirty="0">
                <a:latin typeface="Times New Roman" panose="02020603050405020304" pitchFamily="18" charset="0"/>
                <a:cs typeface="Times New Roman" panose="02020603050405020304" pitchFamily="18" charset="0"/>
              </a:rPr>
              <a:t> M.E.,</a:t>
            </a:r>
          </a:p>
          <a:p>
            <a:r>
              <a:rPr lang="en-IN" dirty="0">
                <a:latin typeface="Times New Roman" panose="02020603050405020304" pitchFamily="18" charset="0"/>
                <a:cs typeface="Times New Roman" panose="02020603050405020304" pitchFamily="18" charset="0"/>
              </a:rPr>
              <a:t>Assistant Professor</a:t>
            </a:r>
          </a:p>
          <a:p>
            <a:r>
              <a:rPr lang="en-IN" dirty="0">
                <a:latin typeface="Times New Roman" panose="02020603050405020304" pitchFamily="18" charset="0"/>
                <a:cs typeface="Times New Roman" panose="02020603050405020304" pitchFamily="18" charset="0"/>
              </a:rPr>
              <a:t>Department of ECE</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Panimalar</a:t>
            </a:r>
            <a:r>
              <a:rPr lang="en-US" dirty="0">
                <a:latin typeface="Times New Roman" panose="02020603050405020304" pitchFamily="18" charset="0"/>
                <a:cs typeface="Times New Roman" panose="02020603050405020304" pitchFamily="18" charset="0"/>
              </a:rPr>
              <a:t> Engineering College.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a:t>
            </a:fld>
            <a:endParaRPr lang="en-US"/>
          </a:p>
        </p:txBody>
      </p:sp>
      <p:pic>
        <p:nvPicPr>
          <p:cNvPr id="3" name="Picture 2"/>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1143000" cy="1123950"/>
          </a:xfrm>
          <a:prstGeom prst="rect">
            <a:avLst/>
          </a:prstGeom>
          <a:noFill/>
          <a:ln>
            <a:noFill/>
          </a:ln>
        </p:spPr>
      </p:pic>
      <p:pic>
        <p:nvPicPr>
          <p:cNvPr id="4" name="Picture 2" descr="Related image"/>
          <p:cNvPicPr>
            <a:picLocks noChangeAspect="1" noChangeArrowheads="1"/>
          </p:cNvPicPr>
          <p:nvPr/>
        </p:nvPicPr>
        <p:blipFill>
          <a:blip r:embed="rId3" cstate="print"/>
          <a:srcRect/>
          <a:stretch>
            <a:fillRect/>
          </a:stretch>
        </p:blipFill>
        <p:spPr bwMode="auto">
          <a:xfrm>
            <a:off x="7772400" y="182880"/>
            <a:ext cx="1188720" cy="1188720"/>
          </a:xfrm>
          <a:prstGeom prst="rect">
            <a:avLst/>
          </a:prstGeom>
          <a:noFill/>
        </p:spPr>
      </p:pic>
      <p:cxnSp>
        <p:nvCxnSpPr>
          <p:cNvPr id="5" name="Straight Connector 4"/>
          <p:cNvCxnSpPr/>
          <p:nvPr/>
        </p:nvCxnSpPr>
        <p:spPr>
          <a:xfrm>
            <a:off x="213360" y="1524000"/>
            <a:ext cx="8778240"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3048000" y="533400"/>
            <a:ext cx="3462807" cy="584775"/>
          </a:xfrm>
          <a:prstGeom prst="rect">
            <a:avLst/>
          </a:prstGeom>
          <a:noFill/>
        </p:spPr>
        <p:txBody>
          <a:bodyPr wrap="none" rtlCol="0">
            <a:spAutoFit/>
          </a:bodyPr>
          <a:lstStyle/>
          <a:p>
            <a:r>
              <a:rPr lang="en-US" sz="3200" b="1" dirty="0">
                <a:latin typeface="Times New Roman" pitchFamily="18" charset="0"/>
                <a:cs typeface="Times New Roman" pitchFamily="18" charset="0"/>
              </a:rPr>
              <a:t>ORGANIZATION</a:t>
            </a:r>
          </a:p>
        </p:txBody>
      </p:sp>
      <p:sp>
        <p:nvSpPr>
          <p:cNvPr id="7" name="Content Placeholder 2"/>
          <p:cNvSpPr txBox="1">
            <a:spLocks/>
          </p:cNvSpPr>
          <p:nvPr/>
        </p:nvSpPr>
        <p:spPr>
          <a:xfrm>
            <a:off x="533400" y="1752600"/>
            <a:ext cx="8229600" cy="4432299"/>
          </a:xfrm>
          <a:prstGeom prst="rect">
            <a:avLst/>
          </a:prstGeom>
        </p:spPr>
        <p:txBody>
          <a:bodyPr>
            <a:noAutofit/>
          </a:bodyPr>
          <a:lstStyle/>
          <a:p>
            <a:pPr marL="395288" indent="-395288">
              <a:buFont typeface="Wingdings" panose="05000000000000000000" pitchFamily="2" charset="2"/>
              <a:buChar char="Ø"/>
            </a:pPr>
            <a:r>
              <a:rPr lang="en-US" sz="2200" dirty="0">
                <a:latin typeface="Times New Roman" pitchFamily="18" charset="0"/>
                <a:cs typeface="Times New Roman" pitchFamily="18" charset="0"/>
              </a:rPr>
              <a:t>Objective of the Project</a:t>
            </a:r>
          </a:p>
          <a:p>
            <a:pPr marL="395288" lvl="0" indent="-395288">
              <a:lnSpc>
                <a:spcPct val="150000"/>
              </a:lnSpc>
              <a:buFont typeface="Wingdings" pitchFamily="2" charset="2"/>
              <a:buChar char="Ø"/>
            </a:pPr>
            <a:r>
              <a:rPr lang="en-US" sz="2200" dirty="0">
                <a:latin typeface="Times New Roman" pitchFamily="18" charset="0"/>
                <a:cs typeface="Times New Roman" pitchFamily="18" charset="0"/>
              </a:rPr>
              <a:t>Introduction</a:t>
            </a:r>
          </a:p>
          <a:p>
            <a:pPr marL="395288" lvl="0" indent="-395288">
              <a:lnSpc>
                <a:spcPct val="150000"/>
              </a:lnSpc>
              <a:buFont typeface="Wingdings" pitchFamily="2" charset="2"/>
              <a:buChar char="Ø"/>
            </a:pPr>
            <a:r>
              <a:rPr lang="en-US" sz="2200" dirty="0">
                <a:latin typeface="Times New Roman" pitchFamily="18" charset="0"/>
                <a:cs typeface="Times New Roman" pitchFamily="18" charset="0"/>
              </a:rPr>
              <a:t>Literature Survey</a:t>
            </a:r>
          </a:p>
          <a:p>
            <a:pPr marL="395288" lvl="0" indent="-395288">
              <a:lnSpc>
                <a:spcPct val="150000"/>
              </a:lnSpc>
              <a:buFont typeface="Wingdings" pitchFamily="2" charset="2"/>
              <a:buChar char="Ø"/>
            </a:pPr>
            <a:r>
              <a:rPr lang="en-US" sz="2200" dirty="0">
                <a:latin typeface="Times New Roman" pitchFamily="18" charset="0"/>
                <a:cs typeface="Times New Roman" pitchFamily="18" charset="0"/>
              </a:rPr>
              <a:t>Existing System</a:t>
            </a:r>
          </a:p>
          <a:p>
            <a:pPr marL="395288" lvl="0" indent="-395288">
              <a:lnSpc>
                <a:spcPct val="150000"/>
              </a:lnSpc>
              <a:buFont typeface="Wingdings" pitchFamily="2" charset="2"/>
              <a:buChar char="Ø"/>
            </a:pPr>
            <a:r>
              <a:rPr lang="en-US" sz="2200" dirty="0">
                <a:latin typeface="Times New Roman" pitchFamily="18" charset="0"/>
                <a:cs typeface="Times New Roman" pitchFamily="18" charset="0"/>
              </a:rPr>
              <a:t>Problem Identification</a:t>
            </a:r>
          </a:p>
          <a:p>
            <a:pPr marL="395288" lvl="0" indent="-395288">
              <a:lnSpc>
                <a:spcPct val="150000"/>
              </a:lnSpc>
              <a:buFont typeface="Wingdings" pitchFamily="2" charset="2"/>
              <a:buChar char="Ø"/>
            </a:pPr>
            <a:r>
              <a:rPr lang="en-US" sz="2200" dirty="0">
                <a:latin typeface="Times New Roman" pitchFamily="18" charset="0"/>
                <a:cs typeface="Times New Roman" pitchFamily="18" charset="0"/>
              </a:rPr>
              <a:t>Proposed system - Block Diagram and Flow Chart </a:t>
            </a:r>
          </a:p>
          <a:p>
            <a:pPr marL="395288" lvl="0" indent="-395288">
              <a:lnSpc>
                <a:spcPct val="150000"/>
              </a:lnSpc>
              <a:buFont typeface="Wingdings" pitchFamily="2" charset="2"/>
              <a:buChar char="Ø"/>
            </a:pPr>
            <a:r>
              <a:rPr lang="en-US" sz="2200" dirty="0">
                <a:latin typeface="Times New Roman" pitchFamily="18" charset="0"/>
                <a:cs typeface="Times New Roman" pitchFamily="18" charset="0"/>
              </a:rPr>
              <a:t>Algorithms used</a:t>
            </a:r>
          </a:p>
          <a:p>
            <a:pPr marL="395288" lvl="0" indent="-395288">
              <a:lnSpc>
                <a:spcPct val="150000"/>
              </a:lnSpc>
              <a:buFont typeface="Wingdings" pitchFamily="2" charset="2"/>
              <a:buChar char="Ø"/>
            </a:pPr>
            <a:r>
              <a:rPr lang="en-US" sz="2200" dirty="0">
                <a:latin typeface="Times New Roman" pitchFamily="18" charset="0"/>
                <a:cs typeface="Times New Roman" pitchFamily="18" charset="0"/>
              </a:rPr>
              <a:t>Stages of Oral Cancer</a:t>
            </a:r>
          </a:p>
          <a:p>
            <a:pPr marL="395288" lvl="0" indent="-395288">
              <a:lnSpc>
                <a:spcPct val="150000"/>
              </a:lnSpc>
              <a:buFont typeface="Wingdings" pitchFamily="2" charset="2"/>
              <a:buChar char="Ø"/>
            </a:pPr>
            <a:r>
              <a:rPr lang="en-US" sz="2200" dirty="0">
                <a:latin typeface="Times New Roman" pitchFamily="18" charset="0"/>
                <a:cs typeface="Times New Roman" pitchFamily="18" charset="0"/>
              </a:rPr>
              <a:t>Input Images</a:t>
            </a:r>
          </a:p>
          <a:p>
            <a:pPr marL="395288" lvl="0" indent="-395288">
              <a:lnSpc>
                <a:spcPct val="150000"/>
              </a:lnSpc>
              <a:buFont typeface="Wingdings" pitchFamily="2" charset="2"/>
              <a:buChar char="Ø"/>
            </a:pPr>
            <a:r>
              <a:rPr lang="en-US" sz="2200" dirty="0">
                <a:latin typeface="Times New Roman" pitchFamily="18" charset="0"/>
                <a:cs typeface="Times New Roman"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3</a:t>
            </a:fld>
            <a:endParaRPr lang="en-US"/>
          </a:p>
        </p:txBody>
      </p:sp>
      <p:grpSp>
        <p:nvGrpSpPr>
          <p:cNvPr id="9" name="Group 8"/>
          <p:cNvGrpSpPr/>
          <p:nvPr/>
        </p:nvGrpSpPr>
        <p:grpSpPr>
          <a:xfrm>
            <a:off x="213360" y="182880"/>
            <a:ext cx="8778240" cy="1341120"/>
            <a:chOff x="213360" y="182880"/>
            <a:chExt cx="8778240" cy="1341120"/>
          </a:xfrm>
        </p:grpSpPr>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1143000" cy="1123950"/>
            </a:xfrm>
            <a:prstGeom prst="rect">
              <a:avLst/>
            </a:prstGeom>
            <a:noFill/>
            <a:ln>
              <a:noFill/>
            </a:ln>
          </p:spPr>
        </p:pic>
        <p:pic>
          <p:nvPicPr>
            <p:cNvPr id="5" name="Picture 2" descr="Related image"/>
            <p:cNvPicPr>
              <a:picLocks noChangeAspect="1" noChangeArrowheads="1"/>
            </p:cNvPicPr>
            <p:nvPr/>
          </p:nvPicPr>
          <p:blipFill>
            <a:blip r:embed="rId3" cstate="print"/>
            <a:srcRect/>
            <a:stretch>
              <a:fillRect/>
            </a:stretch>
          </p:blipFill>
          <p:spPr bwMode="auto">
            <a:xfrm>
              <a:off x="7772400" y="182880"/>
              <a:ext cx="1188720" cy="1188720"/>
            </a:xfrm>
            <a:prstGeom prst="rect">
              <a:avLst/>
            </a:prstGeom>
            <a:noFill/>
          </p:spPr>
        </p:pic>
        <p:cxnSp>
          <p:nvCxnSpPr>
            <p:cNvPr id="6" name="Straight Connector 5"/>
            <p:cNvCxnSpPr/>
            <p:nvPr/>
          </p:nvCxnSpPr>
          <p:spPr>
            <a:xfrm>
              <a:off x="213360" y="1524000"/>
              <a:ext cx="8778240"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2057400" y="533400"/>
              <a:ext cx="5437129" cy="523220"/>
            </a:xfrm>
            <a:prstGeom prst="rect">
              <a:avLst/>
            </a:prstGeom>
            <a:noFill/>
          </p:spPr>
          <p:txBody>
            <a:bodyPr wrap="none" rtlCol="0">
              <a:spAutoFit/>
            </a:bodyPr>
            <a:lstStyle/>
            <a:p>
              <a:r>
                <a:rPr lang="en-US" sz="2800" b="1" dirty="0">
                  <a:latin typeface="Times New Roman" pitchFamily="18" charset="0"/>
                  <a:cs typeface="Times New Roman" pitchFamily="18" charset="0"/>
                </a:rPr>
                <a:t>OBJECTIVE OF THE PROJECT</a:t>
              </a:r>
            </a:p>
          </p:txBody>
        </p:sp>
      </p:grpSp>
      <p:sp>
        <p:nvSpPr>
          <p:cNvPr id="8" name="Rectangle 7"/>
          <p:cNvSpPr/>
          <p:nvPr/>
        </p:nvSpPr>
        <p:spPr>
          <a:xfrm>
            <a:off x="838200" y="2209800"/>
            <a:ext cx="7543800" cy="3911135"/>
          </a:xfrm>
          <a:prstGeom prst="rect">
            <a:avLst/>
          </a:prstGeom>
        </p:spPr>
        <p:txBody>
          <a:bodyPr wrap="square">
            <a:spAutoFit/>
          </a:bodyPr>
          <a:lstStyle/>
          <a:p>
            <a:pPr algn="just">
              <a:lnSpc>
                <a:spcPct val="150000"/>
              </a:lnSpc>
            </a:pPr>
            <a:r>
              <a:rPr lang="en-US" sz="2400" dirty="0">
                <a:latin typeface="Times New Roman" pitchFamily="18" charset="0"/>
                <a:cs typeface="Times New Roman" pitchFamily="18" charset="0"/>
              </a:rPr>
              <a:t>Our objectives are to develop a hybrid deep learning framework integrating RNN, LSTM, GRU, GAN, and autoencoders, along with traditional machine learning techniques, for oral cancer detection. We aim to improve accuracy and robustness in distinguishing between cancerous and non-cancerous cases, enabling early diagnosis and treatment.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4</a:t>
            </a:fld>
            <a:endParaRPr lang="en-US"/>
          </a:p>
        </p:txBody>
      </p:sp>
      <p:grpSp>
        <p:nvGrpSpPr>
          <p:cNvPr id="3" name="Group 2"/>
          <p:cNvGrpSpPr/>
          <p:nvPr/>
        </p:nvGrpSpPr>
        <p:grpSpPr>
          <a:xfrm>
            <a:off x="213360" y="182880"/>
            <a:ext cx="8778240" cy="1341120"/>
            <a:chOff x="213360" y="182880"/>
            <a:chExt cx="8778240" cy="1341120"/>
          </a:xfrm>
        </p:grpSpPr>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1143000" cy="1123950"/>
            </a:xfrm>
            <a:prstGeom prst="rect">
              <a:avLst/>
            </a:prstGeom>
            <a:noFill/>
            <a:ln>
              <a:noFill/>
            </a:ln>
          </p:spPr>
        </p:pic>
        <p:pic>
          <p:nvPicPr>
            <p:cNvPr id="5" name="Picture 2" descr="Related image"/>
            <p:cNvPicPr>
              <a:picLocks noChangeAspect="1" noChangeArrowheads="1"/>
            </p:cNvPicPr>
            <p:nvPr/>
          </p:nvPicPr>
          <p:blipFill>
            <a:blip r:embed="rId3" cstate="print"/>
            <a:srcRect/>
            <a:stretch>
              <a:fillRect/>
            </a:stretch>
          </p:blipFill>
          <p:spPr bwMode="auto">
            <a:xfrm>
              <a:off x="7772400" y="182880"/>
              <a:ext cx="1188720" cy="1188720"/>
            </a:xfrm>
            <a:prstGeom prst="rect">
              <a:avLst/>
            </a:prstGeom>
            <a:noFill/>
          </p:spPr>
        </p:pic>
        <p:cxnSp>
          <p:nvCxnSpPr>
            <p:cNvPr id="6" name="Straight Connector 5"/>
            <p:cNvCxnSpPr/>
            <p:nvPr/>
          </p:nvCxnSpPr>
          <p:spPr>
            <a:xfrm>
              <a:off x="213360" y="1524000"/>
              <a:ext cx="8778240"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3081476" y="515630"/>
              <a:ext cx="3057247" cy="523220"/>
            </a:xfrm>
            <a:prstGeom prst="rect">
              <a:avLst/>
            </a:prstGeom>
            <a:noFill/>
          </p:spPr>
          <p:txBody>
            <a:bodyPr wrap="none" rtlCol="0">
              <a:spAutoFit/>
            </a:bodyPr>
            <a:lstStyle/>
            <a:p>
              <a:r>
                <a:rPr lang="en-US" sz="2800" b="1" dirty="0">
                  <a:latin typeface="Times New Roman" pitchFamily="18" charset="0"/>
                  <a:cs typeface="Times New Roman" pitchFamily="18" charset="0"/>
                </a:rPr>
                <a:t>INTRODUCTION</a:t>
              </a:r>
            </a:p>
          </p:txBody>
        </p:sp>
      </p:grpSp>
      <p:sp>
        <p:nvSpPr>
          <p:cNvPr id="9" name="TextBox 8">
            <a:extLst>
              <a:ext uri="{FF2B5EF4-FFF2-40B4-BE49-F238E27FC236}">
                <a16:creationId xmlns:a16="http://schemas.microsoft.com/office/drawing/2014/main" id="{9734AA48-91B1-2E24-6077-1F5FE1CA9D21}"/>
              </a:ext>
            </a:extLst>
          </p:cNvPr>
          <p:cNvSpPr txBox="1"/>
          <p:nvPr/>
        </p:nvSpPr>
        <p:spPr>
          <a:xfrm>
            <a:off x="762000" y="2021486"/>
            <a:ext cx="7239000" cy="4619854"/>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introduction of our study presents a novel approach to oral cancer detection by integrating multiple deep learning architectures into a hybrid framework. We outline the significance of early detection in improving patient outcomes and healthcare efficiency. By combining image feature extraction using RNN, LSTM, GRU, GAN, and autoencoders with clinical data analysis employing traditional machine learning techniques, our framework aims to enhance the accuracy and robustness of oral cancer detection. We emphasize the need for comprehensive feature representation and evaluation using standard metrics such as accuracy, sensitivity, and specificity to validate the efficacy of our approach in early diagnosis and intervention.</a:t>
            </a:r>
          </a:p>
        </p:txBody>
      </p:sp>
    </p:spTree>
    <p:extLst>
      <p:ext uri="{BB962C8B-B14F-4D97-AF65-F5344CB8AC3E}">
        <p14:creationId xmlns:p14="http://schemas.microsoft.com/office/powerpoint/2010/main" val="2646361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A9AC8-4F2B-529C-C012-42B0E86C367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5D4C9E-B41F-D6E6-F7BB-FDDE4813B6E1}"/>
              </a:ext>
            </a:extLst>
          </p:cNvPr>
          <p:cNvSpPr>
            <a:spLocks noGrp="1"/>
          </p:cNvSpPr>
          <p:nvPr>
            <p:ph type="sldNum" sz="quarter" idx="12"/>
          </p:nvPr>
        </p:nvSpPr>
        <p:spPr/>
        <p:txBody>
          <a:bodyPr/>
          <a:lstStyle/>
          <a:p>
            <a:fld id="{B6F15528-21DE-4FAA-801E-634DDDAF4B2B}" type="slidenum">
              <a:rPr lang="en-US" smtClean="0"/>
              <a:pPr/>
              <a:t>5</a:t>
            </a:fld>
            <a:endParaRPr lang="en-US"/>
          </a:p>
        </p:txBody>
      </p:sp>
      <p:grpSp>
        <p:nvGrpSpPr>
          <p:cNvPr id="6" name="Group 5">
            <a:extLst>
              <a:ext uri="{FF2B5EF4-FFF2-40B4-BE49-F238E27FC236}">
                <a16:creationId xmlns:a16="http://schemas.microsoft.com/office/drawing/2014/main" id="{23B90119-1054-A153-2870-C2D4DBC69D75}"/>
              </a:ext>
            </a:extLst>
          </p:cNvPr>
          <p:cNvGrpSpPr/>
          <p:nvPr/>
        </p:nvGrpSpPr>
        <p:grpSpPr>
          <a:xfrm>
            <a:off x="213360" y="182880"/>
            <a:ext cx="8778240" cy="1341120"/>
            <a:chOff x="213360" y="182880"/>
            <a:chExt cx="8778240" cy="1341120"/>
          </a:xfrm>
        </p:grpSpPr>
        <p:pic>
          <p:nvPicPr>
            <p:cNvPr id="7" name="Picture 6">
              <a:extLst>
                <a:ext uri="{FF2B5EF4-FFF2-40B4-BE49-F238E27FC236}">
                  <a16:creationId xmlns:a16="http://schemas.microsoft.com/office/drawing/2014/main" id="{D414BE1E-4B74-E972-FEE6-B29D6896C13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1143000" cy="1123950"/>
            </a:xfrm>
            <a:prstGeom prst="rect">
              <a:avLst/>
            </a:prstGeom>
            <a:noFill/>
            <a:ln>
              <a:noFill/>
            </a:ln>
          </p:spPr>
        </p:pic>
        <p:pic>
          <p:nvPicPr>
            <p:cNvPr id="8" name="Picture 2" descr="Related image">
              <a:extLst>
                <a:ext uri="{FF2B5EF4-FFF2-40B4-BE49-F238E27FC236}">
                  <a16:creationId xmlns:a16="http://schemas.microsoft.com/office/drawing/2014/main" id="{526E3F7C-C65C-519B-DE86-2AD95A23A873}"/>
                </a:ext>
              </a:extLst>
            </p:cNvPr>
            <p:cNvPicPr>
              <a:picLocks noChangeAspect="1" noChangeArrowheads="1"/>
            </p:cNvPicPr>
            <p:nvPr/>
          </p:nvPicPr>
          <p:blipFill>
            <a:blip r:embed="rId3" cstate="print"/>
            <a:srcRect/>
            <a:stretch>
              <a:fillRect/>
            </a:stretch>
          </p:blipFill>
          <p:spPr bwMode="auto">
            <a:xfrm>
              <a:off x="7772400" y="182880"/>
              <a:ext cx="1188720" cy="1188720"/>
            </a:xfrm>
            <a:prstGeom prst="rect">
              <a:avLst/>
            </a:prstGeom>
            <a:noFill/>
          </p:spPr>
        </p:pic>
        <p:cxnSp>
          <p:nvCxnSpPr>
            <p:cNvPr id="9" name="Straight Connector 8">
              <a:extLst>
                <a:ext uri="{FF2B5EF4-FFF2-40B4-BE49-F238E27FC236}">
                  <a16:creationId xmlns:a16="http://schemas.microsoft.com/office/drawing/2014/main" id="{3FC1EEB7-FD26-8BFA-F63A-792410E8B2FC}"/>
                </a:ext>
              </a:extLst>
            </p:cNvPr>
            <p:cNvCxnSpPr/>
            <p:nvPr/>
          </p:nvCxnSpPr>
          <p:spPr>
            <a:xfrm>
              <a:off x="213360" y="1524000"/>
              <a:ext cx="8778240"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AD91F23-7405-1FF6-D0A0-E5569172404B}"/>
                </a:ext>
              </a:extLst>
            </p:cNvPr>
            <p:cNvSpPr txBox="1"/>
            <p:nvPr/>
          </p:nvSpPr>
          <p:spPr>
            <a:xfrm>
              <a:off x="2667000" y="533400"/>
              <a:ext cx="4085542" cy="523220"/>
            </a:xfrm>
            <a:prstGeom prst="rect">
              <a:avLst/>
            </a:prstGeom>
            <a:noFill/>
          </p:spPr>
          <p:txBody>
            <a:bodyPr wrap="none" rtlCol="0">
              <a:spAutoFit/>
            </a:bodyPr>
            <a:lstStyle/>
            <a:p>
              <a:r>
                <a:rPr lang="en-US" sz="2800" b="1" dirty="0">
                  <a:latin typeface="Times New Roman" pitchFamily="18" charset="0"/>
                  <a:cs typeface="Times New Roman" pitchFamily="18" charset="0"/>
                </a:rPr>
                <a:t>LITERATURE SURVEY</a:t>
              </a:r>
            </a:p>
          </p:txBody>
        </p:sp>
      </p:grpSp>
      <p:graphicFrame>
        <p:nvGraphicFramePr>
          <p:cNvPr id="3" name="Table 2">
            <a:extLst>
              <a:ext uri="{FF2B5EF4-FFF2-40B4-BE49-F238E27FC236}">
                <a16:creationId xmlns:a16="http://schemas.microsoft.com/office/drawing/2014/main" id="{67594727-4D15-DB50-2225-A2A0885C97A8}"/>
              </a:ext>
            </a:extLst>
          </p:cNvPr>
          <p:cNvGraphicFramePr>
            <a:graphicFrameLocks noGrp="1"/>
          </p:cNvGraphicFramePr>
          <p:nvPr>
            <p:extLst>
              <p:ext uri="{D42A27DB-BD31-4B8C-83A1-F6EECF244321}">
                <p14:modId xmlns:p14="http://schemas.microsoft.com/office/powerpoint/2010/main" val="1507604699"/>
              </p:ext>
            </p:extLst>
          </p:nvPr>
        </p:nvGraphicFramePr>
        <p:xfrm>
          <a:off x="424543" y="1716339"/>
          <a:ext cx="8458200" cy="5044948"/>
        </p:xfrm>
        <a:graphic>
          <a:graphicData uri="http://schemas.openxmlformats.org/drawingml/2006/table">
            <a:tbl>
              <a:tblPr firstRow="1" firstCol="1" bandRow="1">
                <a:tableStyleId>{5C22544A-7EE6-4342-B048-85BDC9FD1C3A}</a:tableStyleId>
              </a:tblPr>
              <a:tblGrid>
                <a:gridCol w="1492981">
                  <a:extLst>
                    <a:ext uri="{9D8B030D-6E8A-4147-A177-3AD203B41FA5}">
                      <a16:colId xmlns:a16="http://schemas.microsoft.com/office/drawing/2014/main" val="3979050616"/>
                    </a:ext>
                  </a:extLst>
                </a:gridCol>
                <a:gridCol w="1103665">
                  <a:extLst>
                    <a:ext uri="{9D8B030D-6E8A-4147-A177-3AD203B41FA5}">
                      <a16:colId xmlns:a16="http://schemas.microsoft.com/office/drawing/2014/main" val="777310451"/>
                    </a:ext>
                  </a:extLst>
                </a:gridCol>
                <a:gridCol w="636729">
                  <a:extLst>
                    <a:ext uri="{9D8B030D-6E8A-4147-A177-3AD203B41FA5}">
                      <a16:colId xmlns:a16="http://schemas.microsoft.com/office/drawing/2014/main" val="47790925"/>
                    </a:ext>
                  </a:extLst>
                </a:gridCol>
                <a:gridCol w="402049">
                  <a:extLst>
                    <a:ext uri="{9D8B030D-6E8A-4147-A177-3AD203B41FA5}">
                      <a16:colId xmlns:a16="http://schemas.microsoft.com/office/drawing/2014/main" val="1846597905"/>
                    </a:ext>
                  </a:extLst>
                </a:gridCol>
                <a:gridCol w="2677904">
                  <a:extLst>
                    <a:ext uri="{9D8B030D-6E8A-4147-A177-3AD203B41FA5}">
                      <a16:colId xmlns:a16="http://schemas.microsoft.com/office/drawing/2014/main" val="833706383"/>
                    </a:ext>
                  </a:extLst>
                </a:gridCol>
                <a:gridCol w="2144872">
                  <a:extLst>
                    <a:ext uri="{9D8B030D-6E8A-4147-A177-3AD203B41FA5}">
                      <a16:colId xmlns:a16="http://schemas.microsoft.com/office/drawing/2014/main" val="1739008951"/>
                    </a:ext>
                  </a:extLst>
                </a:gridCol>
              </a:tblGrid>
              <a:tr h="76702">
                <a:tc>
                  <a:txBody>
                    <a:bodyPr/>
                    <a:lstStyle/>
                    <a:p>
                      <a:pPr algn="ctr">
                        <a:lnSpc>
                          <a:spcPct val="107000"/>
                        </a:lnSpc>
                        <a:spcAft>
                          <a:spcPts val="800"/>
                        </a:spcAft>
                      </a:pPr>
                      <a:r>
                        <a:rPr lang="en-IN" sz="1000" kern="0">
                          <a:effectLst/>
                        </a:rPr>
                        <a:t>Title</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Authors</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Publisher</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Year</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US" sz="1000" kern="0">
                          <a:effectLst/>
                        </a:rPr>
                        <a:t>Algorithms Used/ Achievements </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US" sz="1000" kern="0">
                          <a:effectLst/>
                        </a:rPr>
                        <a:t>Limitations</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extLst>
                  <a:ext uri="{0D108BD9-81ED-4DB2-BD59-A6C34878D82A}">
                    <a16:rowId xmlns:a16="http://schemas.microsoft.com/office/drawing/2014/main" val="1009471056"/>
                  </a:ext>
                </a:extLst>
              </a:tr>
              <a:tr h="880748">
                <a:tc>
                  <a:txBody>
                    <a:bodyPr/>
                    <a:lstStyle/>
                    <a:p>
                      <a:pPr algn="ctr">
                        <a:lnSpc>
                          <a:spcPct val="107000"/>
                        </a:lnSpc>
                        <a:spcAft>
                          <a:spcPts val="800"/>
                        </a:spcAft>
                      </a:pPr>
                      <a:r>
                        <a:rPr lang="en-IN" sz="1000" kern="0">
                          <a:effectLst/>
                        </a:rPr>
                        <a:t>Advanced Meta-Heuristic Algorithm Based on Particle Swarm and Al-Biruni Earth Radius Optimization Methods for Oral Cancer Detection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H. Myriam; A. A. Abdelhamid; E. -S. M. El-Kenawy; A. Ibrahim; M. M. Eid; M. M. Jamjoom; D. S. Khafaga</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IEEE</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2023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 Convolutional Neural Network (CNN) and optimized Deep Belief Network (DBN).</a:t>
                      </a:r>
                      <a:endParaRPr lang="en-IN" sz="1000" kern="100">
                        <a:effectLst/>
                      </a:endParaRPr>
                    </a:p>
                    <a:p>
                      <a:pPr algn="ctr">
                        <a:lnSpc>
                          <a:spcPct val="107000"/>
                        </a:lnSpc>
                        <a:spcAft>
                          <a:spcPts val="800"/>
                        </a:spcAft>
                      </a:pPr>
                      <a:r>
                        <a:rPr lang="en-IN" sz="1000" kern="0">
                          <a:effectLst/>
                        </a:rPr>
                        <a:t>- Development of a hybrid optimization algorithm (PSOBER) combining Particle Swarm Optimization (PSO) and Al-Biruni Earth Radius (BER) Optimization.</a:t>
                      </a:r>
                      <a:endParaRPr lang="en-IN" sz="1000" kern="100">
                        <a:effectLst/>
                      </a:endParaRPr>
                    </a:p>
                    <a:p>
                      <a:pPr algn="ctr">
                        <a:lnSpc>
                          <a:spcPct val="107000"/>
                        </a:lnSpc>
                        <a:spcAft>
                          <a:spcPts val="800"/>
                        </a:spcAft>
                      </a:pPr>
                      <a:r>
                        <a:rPr lang="en-IN" sz="1000" kern="0">
                          <a:effectLst/>
                        </a:rPr>
                        <a:t>- Achieved an accuracy of 97.35% on a standard biomedical images dataset from Kaggle.</a:t>
                      </a:r>
                      <a:endParaRPr lang="en-IN" sz="1000" kern="100">
                        <a:effectLst/>
                      </a:endParaRPr>
                    </a:p>
                    <a:p>
                      <a:pPr algn="ctr">
                        <a:lnSpc>
                          <a:spcPct val="107000"/>
                        </a:lnSpc>
                        <a:spcAft>
                          <a:spcPts val="800"/>
                        </a:spcAft>
                      </a:pPr>
                      <a:r>
                        <a:rPr lang="en-IN" sz="1000" kern="0">
                          <a:effectLst/>
                        </a:rPr>
                        <a:t> </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Algorithms Used/Achievements:</a:t>
                      </a:r>
                      <a:endParaRPr lang="en-IN" sz="1000" kern="100">
                        <a:effectLst/>
                      </a:endParaRPr>
                    </a:p>
                    <a:p>
                      <a:pPr algn="ctr">
                        <a:lnSpc>
                          <a:spcPct val="107000"/>
                        </a:lnSpc>
                        <a:spcAft>
                          <a:spcPts val="800"/>
                        </a:spcAft>
                      </a:pPr>
                      <a:r>
                        <a:rPr lang="en-IN" sz="1000" kern="0">
                          <a:effectLst/>
                        </a:rPr>
                        <a:t> </a:t>
                      </a:r>
                      <a:endParaRPr lang="en-IN" sz="1000" kern="100">
                        <a:effectLst/>
                      </a:endParaRPr>
                    </a:p>
                    <a:p>
                      <a:pPr algn="ctr">
                        <a:lnSpc>
                          <a:spcPct val="107000"/>
                        </a:lnSpc>
                        <a:spcAft>
                          <a:spcPts val="800"/>
                        </a:spcAft>
                      </a:pPr>
                      <a:r>
                        <a:rPr lang="en-IN" sz="1000" kern="0">
                          <a:effectLst/>
                        </a:rPr>
                        <a:t>Limitations:</a:t>
                      </a:r>
                      <a:endParaRPr lang="en-IN" sz="1000" kern="100">
                        <a:effectLst/>
                      </a:endParaRPr>
                    </a:p>
                    <a:p>
                      <a:pPr algn="ctr">
                        <a:lnSpc>
                          <a:spcPct val="107000"/>
                        </a:lnSpc>
                        <a:spcAft>
                          <a:spcPts val="800"/>
                        </a:spcAft>
                      </a:pPr>
                      <a:r>
                        <a:rPr lang="en-IN" sz="1000" kern="0">
                          <a:effectLst/>
                        </a:rPr>
                        <a:t>- Reliance on a single dataset may limit generalizability.</a:t>
                      </a:r>
                      <a:endParaRPr lang="en-IN" sz="1000" kern="100">
                        <a:effectLst/>
                      </a:endParaRPr>
                    </a:p>
                    <a:p>
                      <a:pPr algn="ctr">
                        <a:lnSpc>
                          <a:spcPct val="107000"/>
                        </a:lnSpc>
                        <a:spcAft>
                          <a:spcPts val="800"/>
                        </a:spcAft>
                      </a:pPr>
                      <a:r>
                        <a:rPr lang="en-IN" sz="1000" kern="0">
                          <a:effectLst/>
                        </a:rPr>
                        <a:t>- Further validation on larger datasets is necessary.</a:t>
                      </a:r>
                      <a:endParaRPr lang="en-IN" sz="1000" kern="100">
                        <a:effectLst/>
                      </a:endParaRPr>
                    </a:p>
                    <a:p>
                      <a:pPr algn="ctr">
                        <a:lnSpc>
                          <a:spcPct val="107000"/>
                        </a:lnSpc>
                        <a:spcAft>
                          <a:spcPts val="800"/>
                        </a:spcAft>
                      </a:pPr>
                      <a:r>
                        <a:rPr lang="en-IN" sz="1000" kern="0">
                          <a:effectLst/>
                        </a:rPr>
                        <a:t>- Limited exploration of additional oral features for cancer detection.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extLst>
                  <a:ext uri="{0D108BD9-81ED-4DB2-BD59-A6C34878D82A}">
                    <a16:rowId xmlns:a16="http://schemas.microsoft.com/office/drawing/2014/main" val="998195304"/>
                  </a:ext>
                </a:extLst>
              </a:tr>
              <a:tr h="818117">
                <a:tc>
                  <a:txBody>
                    <a:bodyPr/>
                    <a:lstStyle/>
                    <a:p>
                      <a:pPr algn="ctr">
                        <a:lnSpc>
                          <a:spcPct val="107000"/>
                        </a:lnSpc>
                        <a:spcAft>
                          <a:spcPts val="800"/>
                        </a:spcAft>
                      </a:pPr>
                      <a:r>
                        <a:rPr lang="en-IN" sz="1000" kern="0">
                          <a:effectLst/>
                        </a:rPr>
                        <a:t>Multimodal Transfer Learning for Oral Presentation Assessment</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S. S. Y. Tun; S. Okada; H. -H. Huang; C. W. Leong</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IEEE</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2023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100" dirty="0">
                          <a:effectLst/>
                        </a:rPr>
                        <a:t>The paper employs transfer learning techniques to leverage knowledge from a job interview dataset for pretraining and then adapt it to a smaller presentation dataset. This approach aims to enhance the learning process and improve performance in evaluating oral presentation skills</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100">
                          <a:effectLst/>
                        </a:rPr>
                        <a:t>The transferability of knowledge between the job interview dataset and the presentation dataset might be limited by domain-specific nuances. Certain aspects of oral communication and performance evaluation may differ between these contexts, potentially impacting the generalization capability of the model.</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extLst>
                  <a:ext uri="{0D108BD9-81ED-4DB2-BD59-A6C34878D82A}">
                    <a16:rowId xmlns:a16="http://schemas.microsoft.com/office/drawing/2014/main" val="2552024334"/>
                  </a:ext>
                </a:extLst>
              </a:tr>
              <a:tr h="743399">
                <a:tc>
                  <a:txBody>
                    <a:bodyPr/>
                    <a:lstStyle/>
                    <a:p>
                      <a:pPr algn="ctr">
                        <a:lnSpc>
                          <a:spcPct val="107000"/>
                        </a:lnSpc>
                        <a:spcAft>
                          <a:spcPts val="800"/>
                        </a:spcAft>
                      </a:pPr>
                      <a:r>
                        <a:rPr lang="en-IN" sz="1000" kern="0">
                          <a:effectLst/>
                        </a:rPr>
                        <a:t>Unveiling the Future of Oral Squamous Cell Carcinoma Diagnosis: An Innovative Hybrid AI Approach for Accurate Histopathological Image Analysis</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I. U. Haq; M. Ahmed; M. Assam; Y. Y. Ghadi; A. Algarni</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IEEE</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2023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100">
                          <a:effectLst/>
                        </a:rPr>
                        <a:t>This approach combines Gabor filtering, which is effective in texture analysis, with CatBoost, a gradient boosting algorithm known for its robustness and efficiency in classification tasks. While specifics on the achieved performance metrics are not provided, this method likely yielded promising results given its utilization of both low-level feature extraction and advanced machine learning techniques.</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100" dirty="0">
                          <a:effectLst/>
                        </a:rPr>
                        <a:t>The study does not provide information on the diversity of datasets used for training and testing. It is essential to assess the algorithm's performance on diverse datasets to ensure its generalizability across different populations, imaging conditions, and equipment.</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extLst>
                  <a:ext uri="{0D108BD9-81ED-4DB2-BD59-A6C34878D82A}">
                    <a16:rowId xmlns:a16="http://schemas.microsoft.com/office/drawing/2014/main" val="1542264921"/>
                  </a:ext>
                </a:extLst>
              </a:tr>
            </a:tbl>
          </a:graphicData>
        </a:graphic>
      </p:graphicFrame>
    </p:spTree>
    <p:extLst>
      <p:ext uri="{BB962C8B-B14F-4D97-AF65-F5344CB8AC3E}">
        <p14:creationId xmlns:p14="http://schemas.microsoft.com/office/powerpoint/2010/main" val="1236406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6</a:t>
            </a:fld>
            <a:endParaRPr lang="en-US"/>
          </a:p>
        </p:txBody>
      </p:sp>
      <p:grpSp>
        <p:nvGrpSpPr>
          <p:cNvPr id="6" name="Group 5"/>
          <p:cNvGrpSpPr/>
          <p:nvPr/>
        </p:nvGrpSpPr>
        <p:grpSpPr>
          <a:xfrm>
            <a:off x="213360" y="182880"/>
            <a:ext cx="8778240" cy="1341120"/>
            <a:chOff x="213360" y="182880"/>
            <a:chExt cx="8778240" cy="1341120"/>
          </a:xfrm>
        </p:grpSpPr>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1143000" cy="1123950"/>
            </a:xfrm>
            <a:prstGeom prst="rect">
              <a:avLst/>
            </a:prstGeom>
            <a:noFill/>
            <a:ln>
              <a:noFill/>
            </a:ln>
          </p:spPr>
        </p:pic>
        <p:pic>
          <p:nvPicPr>
            <p:cNvPr id="8" name="Picture 2" descr="Related image"/>
            <p:cNvPicPr>
              <a:picLocks noChangeAspect="1" noChangeArrowheads="1"/>
            </p:cNvPicPr>
            <p:nvPr/>
          </p:nvPicPr>
          <p:blipFill>
            <a:blip r:embed="rId3" cstate="print"/>
            <a:srcRect/>
            <a:stretch>
              <a:fillRect/>
            </a:stretch>
          </p:blipFill>
          <p:spPr bwMode="auto">
            <a:xfrm>
              <a:off x="7772400" y="182880"/>
              <a:ext cx="1188720" cy="1188720"/>
            </a:xfrm>
            <a:prstGeom prst="rect">
              <a:avLst/>
            </a:prstGeom>
            <a:noFill/>
          </p:spPr>
        </p:pic>
        <p:cxnSp>
          <p:nvCxnSpPr>
            <p:cNvPr id="9" name="Straight Connector 8"/>
            <p:cNvCxnSpPr/>
            <p:nvPr/>
          </p:nvCxnSpPr>
          <p:spPr>
            <a:xfrm>
              <a:off x="213360" y="1524000"/>
              <a:ext cx="8778240"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2667000" y="533400"/>
              <a:ext cx="4085542" cy="523220"/>
            </a:xfrm>
            <a:prstGeom prst="rect">
              <a:avLst/>
            </a:prstGeom>
            <a:noFill/>
          </p:spPr>
          <p:txBody>
            <a:bodyPr wrap="none" rtlCol="0">
              <a:spAutoFit/>
            </a:bodyPr>
            <a:lstStyle/>
            <a:p>
              <a:r>
                <a:rPr lang="en-US" sz="2800" b="1" dirty="0">
                  <a:latin typeface="Times New Roman" pitchFamily="18" charset="0"/>
                  <a:cs typeface="Times New Roman" pitchFamily="18" charset="0"/>
                </a:rPr>
                <a:t>LITERATURE SURVEY</a:t>
              </a:r>
            </a:p>
          </p:txBody>
        </p:sp>
      </p:grpSp>
      <p:graphicFrame>
        <p:nvGraphicFramePr>
          <p:cNvPr id="3" name="Table 2">
            <a:extLst>
              <a:ext uri="{FF2B5EF4-FFF2-40B4-BE49-F238E27FC236}">
                <a16:creationId xmlns:a16="http://schemas.microsoft.com/office/drawing/2014/main" id="{D0816F0B-1DFA-90ED-FA38-30DDA1FC0D7B}"/>
              </a:ext>
            </a:extLst>
          </p:cNvPr>
          <p:cNvGraphicFramePr>
            <a:graphicFrameLocks noGrp="1"/>
          </p:cNvGraphicFramePr>
          <p:nvPr>
            <p:extLst>
              <p:ext uri="{D42A27DB-BD31-4B8C-83A1-F6EECF244321}">
                <p14:modId xmlns:p14="http://schemas.microsoft.com/office/powerpoint/2010/main" val="2227253027"/>
              </p:ext>
            </p:extLst>
          </p:nvPr>
        </p:nvGraphicFramePr>
        <p:xfrm>
          <a:off x="424543" y="1716339"/>
          <a:ext cx="8458200" cy="4210812"/>
        </p:xfrm>
        <a:graphic>
          <a:graphicData uri="http://schemas.openxmlformats.org/drawingml/2006/table">
            <a:tbl>
              <a:tblPr firstRow="1" firstCol="1" bandRow="1">
                <a:tableStyleId>{5C22544A-7EE6-4342-B048-85BDC9FD1C3A}</a:tableStyleId>
              </a:tblPr>
              <a:tblGrid>
                <a:gridCol w="1492981">
                  <a:extLst>
                    <a:ext uri="{9D8B030D-6E8A-4147-A177-3AD203B41FA5}">
                      <a16:colId xmlns:a16="http://schemas.microsoft.com/office/drawing/2014/main" val="3979050616"/>
                    </a:ext>
                  </a:extLst>
                </a:gridCol>
                <a:gridCol w="1103665">
                  <a:extLst>
                    <a:ext uri="{9D8B030D-6E8A-4147-A177-3AD203B41FA5}">
                      <a16:colId xmlns:a16="http://schemas.microsoft.com/office/drawing/2014/main" val="777310451"/>
                    </a:ext>
                  </a:extLst>
                </a:gridCol>
                <a:gridCol w="636729">
                  <a:extLst>
                    <a:ext uri="{9D8B030D-6E8A-4147-A177-3AD203B41FA5}">
                      <a16:colId xmlns:a16="http://schemas.microsoft.com/office/drawing/2014/main" val="47790925"/>
                    </a:ext>
                  </a:extLst>
                </a:gridCol>
                <a:gridCol w="402049">
                  <a:extLst>
                    <a:ext uri="{9D8B030D-6E8A-4147-A177-3AD203B41FA5}">
                      <a16:colId xmlns:a16="http://schemas.microsoft.com/office/drawing/2014/main" val="1846597905"/>
                    </a:ext>
                  </a:extLst>
                </a:gridCol>
                <a:gridCol w="2677904">
                  <a:extLst>
                    <a:ext uri="{9D8B030D-6E8A-4147-A177-3AD203B41FA5}">
                      <a16:colId xmlns:a16="http://schemas.microsoft.com/office/drawing/2014/main" val="833706383"/>
                    </a:ext>
                  </a:extLst>
                </a:gridCol>
                <a:gridCol w="2144872">
                  <a:extLst>
                    <a:ext uri="{9D8B030D-6E8A-4147-A177-3AD203B41FA5}">
                      <a16:colId xmlns:a16="http://schemas.microsoft.com/office/drawing/2014/main" val="1739008951"/>
                    </a:ext>
                  </a:extLst>
                </a:gridCol>
              </a:tblGrid>
              <a:tr h="76702">
                <a:tc>
                  <a:txBody>
                    <a:bodyPr/>
                    <a:lstStyle/>
                    <a:p>
                      <a:pPr algn="ctr">
                        <a:lnSpc>
                          <a:spcPct val="107000"/>
                        </a:lnSpc>
                        <a:spcAft>
                          <a:spcPts val="800"/>
                        </a:spcAft>
                      </a:pPr>
                      <a:r>
                        <a:rPr lang="en-IN" sz="1000" kern="0">
                          <a:effectLst/>
                        </a:rPr>
                        <a:t>Title</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Authors</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Publisher</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Year</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US" sz="1000" kern="0">
                          <a:effectLst/>
                        </a:rPr>
                        <a:t>Algorithms Used/ Achievements </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US" sz="1000" kern="0">
                          <a:effectLst/>
                        </a:rPr>
                        <a:t>Limitations</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extLst>
                  <a:ext uri="{0D108BD9-81ED-4DB2-BD59-A6C34878D82A}">
                    <a16:rowId xmlns:a16="http://schemas.microsoft.com/office/drawing/2014/main" val="1009471056"/>
                  </a:ext>
                </a:extLst>
              </a:tr>
              <a:tr h="743875">
                <a:tc>
                  <a:txBody>
                    <a:bodyPr/>
                    <a:lstStyle/>
                    <a:p>
                      <a:pPr algn="ctr">
                        <a:lnSpc>
                          <a:spcPct val="107000"/>
                        </a:lnSpc>
                        <a:spcAft>
                          <a:spcPts val="800"/>
                        </a:spcAft>
                      </a:pPr>
                      <a:r>
                        <a:rPr lang="en-IN" sz="1000" kern="0">
                          <a:effectLst/>
                        </a:rPr>
                        <a:t>Aligning Small Datasets Using Domain Adversarial Learning: Applications in Automated in Vivo Oral Cancer Diagnosis</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K. Caughlin; E. Duran-Sierra; S. Cheng; R. Cuenca; B. Ahmed; J. Ji; M. Martinez; M. Al-Khalil; H. Al-Enazi; Y. -S. L. Cheng; J. Wright; J. A. Jo; C. Busso</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dirty="0">
                          <a:effectLst/>
                        </a:rPr>
                        <a:t>IEEE</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2023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100">
                          <a:effectLst/>
                        </a:rPr>
                        <a:t>Integration of a domain adaptation module into the neural network architecture to encourage domain invariance between two multispectral autofluorescence imaging (maFLIM) datasets.</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100" dirty="0">
                          <a:effectLst/>
                        </a:rPr>
                        <a:t>Incorporating domain adaptation techniques into the neural network architecture increases computational complexity and training time, which may hinder scalability and deployment in real-world clinical settings with limited computational resources.</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extLst>
                  <a:ext uri="{0D108BD9-81ED-4DB2-BD59-A6C34878D82A}">
                    <a16:rowId xmlns:a16="http://schemas.microsoft.com/office/drawing/2014/main" val="1897324392"/>
                  </a:ext>
                </a:extLst>
              </a:tr>
              <a:tr h="593963">
                <a:tc>
                  <a:txBody>
                    <a:bodyPr/>
                    <a:lstStyle/>
                    <a:p>
                      <a:pPr algn="ctr">
                        <a:lnSpc>
                          <a:spcPct val="107000"/>
                        </a:lnSpc>
                        <a:spcAft>
                          <a:spcPts val="800"/>
                        </a:spcAft>
                      </a:pPr>
                      <a:r>
                        <a:rPr lang="en-IN" sz="1000" kern="0">
                          <a:effectLst/>
                        </a:rPr>
                        <a:t>A Multifaceted Approach to Oral Assessment Based on the Conformer Architecture</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Z. Fan; J. Li; A. Wumaier; Z. Kadeer; A. Abdurahman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IEEE</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2023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100" dirty="0">
                          <a:effectLst/>
                        </a:rPr>
                        <a:t>This method effectively increases the model's ability to capture local feature information at different scales, enhancing the model's performance in mispronunciation detection and pronunciation quality assessment tasks.</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100">
                          <a:effectLst/>
                        </a:rPr>
                        <a:t>The experiments are conducted on self-built and open-source datasets, which may not fully represent the diversity of real-world speaking scenarios. The generalizability of the proposed method to other languages and dialects remains uncertain.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extLst>
                  <a:ext uri="{0D108BD9-81ED-4DB2-BD59-A6C34878D82A}">
                    <a16:rowId xmlns:a16="http://schemas.microsoft.com/office/drawing/2014/main" val="718544284"/>
                  </a:ext>
                </a:extLst>
              </a:tr>
              <a:tr h="669157">
                <a:tc>
                  <a:txBody>
                    <a:bodyPr/>
                    <a:lstStyle/>
                    <a:p>
                      <a:pPr algn="ctr">
                        <a:lnSpc>
                          <a:spcPct val="107000"/>
                        </a:lnSpc>
                        <a:spcAft>
                          <a:spcPts val="800"/>
                        </a:spcAft>
                      </a:pPr>
                      <a:r>
                        <a:rPr lang="en-IN" sz="1000" kern="0">
                          <a:effectLst/>
                        </a:rPr>
                        <a:t>The Minimally-Invasive Oral Glucose Minimal Model: Estimation of Gastric Retention, Glucose Rate of Appearance, and Insulin Sensitivity from Type 1 Diabetes Data Collected in Real-life Conditions</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E. Faggionato; M. Schiavon; L. Ekhlaspour; B. A. Buckingham; C. Dalla Man</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IEEE</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0">
                          <a:effectLst/>
                        </a:rPr>
                        <a:t>2023</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100">
                          <a:effectLst/>
                        </a:rPr>
                        <a:t>This method was utilized to identify the parameters of the Oral Minimal Model (OMM) and the physiological model of glucose transit through the gastrointestinal tract (R-OMM) from plasma glucose (G) and insulin (I) measurements.</a:t>
                      </a:r>
                      <a:endParaRPr lang="en-IN"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tc>
                  <a:txBody>
                    <a:bodyPr/>
                    <a:lstStyle/>
                    <a:p>
                      <a:pPr algn="ctr">
                        <a:lnSpc>
                          <a:spcPct val="107000"/>
                        </a:lnSpc>
                        <a:spcAft>
                          <a:spcPts val="800"/>
                        </a:spcAft>
                      </a:pPr>
                      <a:r>
                        <a:rPr lang="en-IN" sz="1000" kern="100" dirty="0">
                          <a:effectLst/>
                        </a:rPr>
                        <a:t>The study's sample size of forty-seven individuals with type 1 diabetes may not fully capture the variability present in the population, limiting the generalizability of the findings.</a:t>
                      </a:r>
                      <a:endParaRPr lang="en-IN"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8565" marR="28565" marT="0" marB="0" anchor="ctr"/>
                </a:tc>
                <a:extLst>
                  <a:ext uri="{0D108BD9-81ED-4DB2-BD59-A6C34878D82A}">
                    <a16:rowId xmlns:a16="http://schemas.microsoft.com/office/drawing/2014/main" val="192349819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7</a:t>
            </a:fld>
            <a:endParaRPr lang="en-US"/>
          </a:p>
        </p:txBody>
      </p:sp>
      <p:grpSp>
        <p:nvGrpSpPr>
          <p:cNvPr id="3" name="Group 2"/>
          <p:cNvGrpSpPr/>
          <p:nvPr/>
        </p:nvGrpSpPr>
        <p:grpSpPr>
          <a:xfrm>
            <a:off x="213360" y="182880"/>
            <a:ext cx="8778240" cy="1341120"/>
            <a:chOff x="213360" y="182880"/>
            <a:chExt cx="8778240" cy="1341120"/>
          </a:xfrm>
        </p:grpSpPr>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1143000" cy="1123950"/>
            </a:xfrm>
            <a:prstGeom prst="rect">
              <a:avLst/>
            </a:prstGeom>
            <a:noFill/>
            <a:ln>
              <a:noFill/>
            </a:ln>
          </p:spPr>
        </p:pic>
        <p:pic>
          <p:nvPicPr>
            <p:cNvPr id="5" name="Picture 2" descr="Related image"/>
            <p:cNvPicPr>
              <a:picLocks noChangeAspect="1" noChangeArrowheads="1"/>
            </p:cNvPicPr>
            <p:nvPr/>
          </p:nvPicPr>
          <p:blipFill>
            <a:blip r:embed="rId3" cstate="print"/>
            <a:srcRect/>
            <a:stretch>
              <a:fillRect/>
            </a:stretch>
          </p:blipFill>
          <p:spPr bwMode="auto">
            <a:xfrm>
              <a:off x="7772400" y="182880"/>
              <a:ext cx="1188720" cy="1188720"/>
            </a:xfrm>
            <a:prstGeom prst="rect">
              <a:avLst/>
            </a:prstGeom>
            <a:noFill/>
          </p:spPr>
        </p:pic>
        <p:cxnSp>
          <p:nvCxnSpPr>
            <p:cNvPr id="6" name="Straight Connector 5"/>
            <p:cNvCxnSpPr/>
            <p:nvPr/>
          </p:nvCxnSpPr>
          <p:spPr>
            <a:xfrm>
              <a:off x="213360" y="1524000"/>
              <a:ext cx="8778240"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1461406" y="533400"/>
              <a:ext cx="6331990" cy="461665"/>
            </a:xfrm>
            <a:prstGeom prst="rect">
              <a:avLst/>
            </a:prstGeom>
            <a:noFill/>
          </p:spPr>
          <p:txBody>
            <a:bodyPr wrap="none" rtlCol="0">
              <a:spAutoFit/>
            </a:bodyPr>
            <a:lstStyle/>
            <a:p>
              <a:pPr algn="ctr"/>
              <a:r>
                <a:rPr lang="en-US" sz="2400" b="1" dirty="0">
                  <a:latin typeface="Times New Roman" pitchFamily="18" charset="0"/>
                  <a:cs typeface="Times New Roman" pitchFamily="18" charset="0"/>
                </a:rPr>
                <a:t>BLOCK DIAGRAM OF EXISTING SYSTEM</a:t>
              </a:r>
            </a:p>
          </p:txBody>
        </p:sp>
      </p:grpSp>
      <p:pic>
        <p:nvPicPr>
          <p:cNvPr id="2050" name="Picture 2" descr="An Explainable Deep Learning Approach for Oral Cancer Detection | Journal  of Electrical Engineering &amp; Technology">
            <a:extLst>
              <a:ext uri="{FF2B5EF4-FFF2-40B4-BE49-F238E27FC236}">
                <a16:creationId xmlns:a16="http://schemas.microsoft.com/office/drawing/2014/main" id="{C63F8BFC-7643-9CD1-E4C6-8C9C3539BC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5477" y="1900535"/>
            <a:ext cx="6524625" cy="46383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8</a:t>
            </a:fld>
            <a:endParaRPr lang="en-US"/>
          </a:p>
        </p:txBody>
      </p:sp>
      <p:grpSp>
        <p:nvGrpSpPr>
          <p:cNvPr id="3" name="Group 2"/>
          <p:cNvGrpSpPr/>
          <p:nvPr/>
        </p:nvGrpSpPr>
        <p:grpSpPr>
          <a:xfrm>
            <a:off x="213360" y="182880"/>
            <a:ext cx="8778240" cy="1341120"/>
            <a:chOff x="213360" y="182880"/>
            <a:chExt cx="8778240" cy="1341120"/>
          </a:xfrm>
        </p:grpSpPr>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1143000" cy="1123950"/>
            </a:xfrm>
            <a:prstGeom prst="rect">
              <a:avLst/>
            </a:prstGeom>
            <a:noFill/>
            <a:ln>
              <a:noFill/>
            </a:ln>
          </p:spPr>
        </p:pic>
        <p:pic>
          <p:nvPicPr>
            <p:cNvPr id="5" name="Picture 2" descr="Related image"/>
            <p:cNvPicPr>
              <a:picLocks noChangeAspect="1" noChangeArrowheads="1"/>
            </p:cNvPicPr>
            <p:nvPr/>
          </p:nvPicPr>
          <p:blipFill>
            <a:blip r:embed="rId3" cstate="print"/>
            <a:srcRect/>
            <a:stretch>
              <a:fillRect/>
            </a:stretch>
          </p:blipFill>
          <p:spPr bwMode="auto">
            <a:xfrm>
              <a:off x="7772400" y="182880"/>
              <a:ext cx="1188720" cy="1188720"/>
            </a:xfrm>
            <a:prstGeom prst="rect">
              <a:avLst/>
            </a:prstGeom>
            <a:noFill/>
          </p:spPr>
        </p:pic>
        <p:cxnSp>
          <p:nvCxnSpPr>
            <p:cNvPr id="6" name="Straight Connector 5"/>
            <p:cNvCxnSpPr/>
            <p:nvPr/>
          </p:nvCxnSpPr>
          <p:spPr>
            <a:xfrm>
              <a:off x="213360" y="1524000"/>
              <a:ext cx="8778240"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1787199" y="381000"/>
              <a:ext cx="5680401" cy="830997"/>
            </a:xfrm>
            <a:prstGeom prst="rect">
              <a:avLst/>
            </a:prstGeom>
            <a:noFill/>
          </p:spPr>
          <p:txBody>
            <a:bodyPr wrap="none" rtlCol="0">
              <a:spAutoFit/>
            </a:bodyPr>
            <a:lstStyle/>
            <a:p>
              <a:pPr algn="ctr"/>
              <a:r>
                <a:rPr lang="en-US" sz="2400" b="1" dirty="0">
                  <a:latin typeface="Times New Roman" pitchFamily="18" charset="0"/>
                  <a:cs typeface="Times New Roman" pitchFamily="18" charset="0"/>
                </a:rPr>
                <a:t>PROBLEM IDENTIFICATION/ </a:t>
              </a:r>
            </a:p>
            <a:p>
              <a:pPr algn="ctr"/>
              <a:r>
                <a:rPr lang="en-US" sz="2400" b="1" dirty="0">
                  <a:latin typeface="Times New Roman" pitchFamily="18" charset="0"/>
                  <a:cs typeface="Times New Roman" pitchFamily="18" charset="0"/>
                </a:rPr>
                <a:t>LIMITATIONS OF EXISTING SYSTEM</a:t>
              </a:r>
            </a:p>
          </p:txBody>
        </p:sp>
      </p:grpSp>
      <p:sp>
        <p:nvSpPr>
          <p:cNvPr id="8" name="Content Placeholder 1"/>
          <p:cNvSpPr txBox="1">
            <a:spLocks/>
          </p:cNvSpPr>
          <p:nvPr/>
        </p:nvSpPr>
        <p:spPr>
          <a:xfrm>
            <a:off x="304800" y="1752600"/>
            <a:ext cx="8610600" cy="4525963"/>
          </a:xfrm>
          <a:prstGeom prst="rect">
            <a:avLst/>
          </a:prstGeom>
        </p:spPr>
        <p:txBody>
          <a:bodyPr>
            <a:noAutofit/>
          </a:bodyPr>
          <a:lstStyle/>
          <a:p>
            <a:pPr marL="342900" marR="0" lvl="0" indent="-342900" algn="l" defTabSz="914400" rtl="0" eaLnBrk="1" fontAlgn="auto" latinLnBrk="0" hangingPunct="1">
              <a:lnSpc>
                <a:spcPct val="200000"/>
              </a:lnSpc>
              <a:spcBef>
                <a:spcPct val="20000"/>
              </a:spcBef>
              <a:spcAft>
                <a:spcPts val="0"/>
              </a:spcAft>
              <a:buClrTx/>
              <a:buSzTx/>
              <a:buFont typeface="Arial" pitchFamily="34" charset="0"/>
              <a:buChar char="•"/>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0" name="TextBox 9">
            <a:extLst>
              <a:ext uri="{FF2B5EF4-FFF2-40B4-BE49-F238E27FC236}">
                <a16:creationId xmlns:a16="http://schemas.microsoft.com/office/drawing/2014/main" id="{389CDBE0-3842-6F91-8A76-8C5BAFEF45BE}"/>
              </a:ext>
            </a:extLst>
          </p:cNvPr>
          <p:cNvSpPr txBox="1"/>
          <p:nvPr/>
        </p:nvSpPr>
        <p:spPr>
          <a:xfrm>
            <a:off x="899160" y="1887308"/>
            <a:ext cx="7467600" cy="4619854"/>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existing systems for oral cancer detection often face limitations in terms of accuracy and robustness. Traditional methods may rely solely on clinical data or image analysis, leading to suboptimal performance due to the complexity and variability of oral cancer manifestations. Additionally, these systems may struggle with feature representation and integration, hindering their ability to distinguish between cancerous and non-cancerous cases effectively. Moreover, the lack of comprehensive evaluation using standard metrics may limit the reliability of their results. These limitations underscore the need for a more advanced approach that combines deep learning architectures and traditional techniques to improve the accuracy and reliability of oral cancer detection systems.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9</a:t>
            </a:fld>
            <a:endParaRPr lang="en-US"/>
          </a:p>
        </p:txBody>
      </p:sp>
      <p:grpSp>
        <p:nvGrpSpPr>
          <p:cNvPr id="8" name="Group 7"/>
          <p:cNvGrpSpPr/>
          <p:nvPr/>
        </p:nvGrpSpPr>
        <p:grpSpPr>
          <a:xfrm>
            <a:off x="213360" y="182880"/>
            <a:ext cx="8778240" cy="1341120"/>
            <a:chOff x="213360" y="182880"/>
            <a:chExt cx="8778240" cy="1341120"/>
          </a:xfrm>
        </p:grpSpPr>
        <p:pic>
          <p:nvPicPr>
            <p:cNvPr id="9" name="Picture 8"/>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1143000" cy="1123950"/>
            </a:xfrm>
            <a:prstGeom prst="rect">
              <a:avLst/>
            </a:prstGeom>
            <a:noFill/>
            <a:ln>
              <a:noFill/>
            </a:ln>
          </p:spPr>
        </p:pic>
        <p:pic>
          <p:nvPicPr>
            <p:cNvPr id="10" name="Picture 2" descr="Related image"/>
            <p:cNvPicPr>
              <a:picLocks noChangeAspect="1" noChangeArrowheads="1"/>
            </p:cNvPicPr>
            <p:nvPr/>
          </p:nvPicPr>
          <p:blipFill>
            <a:blip r:embed="rId3" cstate="print"/>
            <a:srcRect/>
            <a:stretch>
              <a:fillRect/>
            </a:stretch>
          </p:blipFill>
          <p:spPr bwMode="auto">
            <a:xfrm>
              <a:off x="7772400" y="182880"/>
              <a:ext cx="1188720" cy="1188720"/>
            </a:xfrm>
            <a:prstGeom prst="rect">
              <a:avLst/>
            </a:prstGeom>
            <a:noFill/>
          </p:spPr>
        </p:pic>
        <p:cxnSp>
          <p:nvCxnSpPr>
            <p:cNvPr id="11" name="Straight Connector 10"/>
            <p:cNvCxnSpPr/>
            <p:nvPr/>
          </p:nvCxnSpPr>
          <p:spPr>
            <a:xfrm>
              <a:off x="213360" y="1524000"/>
              <a:ext cx="8778240"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1661086" y="533400"/>
              <a:ext cx="6035114" cy="461665"/>
            </a:xfrm>
            <a:prstGeom prst="rect">
              <a:avLst/>
            </a:prstGeom>
            <a:noFill/>
          </p:spPr>
          <p:txBody>
            <a:bodyPr wrap="none" rtlCol="0">
              <a:spAutoFit/>
            </a:bodyPr>
            <a:lstStyle/>
            <a:p>
              <a:pPr algn="ctr"/>
              <a:r>
                <a:rPr lang="en-US" sz="2400" b="1" dirty="0">
                  <a:latin typeface="Times New Roman" pitchFamily="18" charset="0"/>
                  <a:cs typeface="Times New Roman" pitchFamily="18" charset="0"/>
                </a:rPr>
                <a:t>OVERVIEW OF THE PROPOSED WORK </a:t>
              </a:r>
            </a:p>
          </p:txBody>
        </p:sp>
      </p:grpSp>
      <p:sp>
        <p:nvSpPr>
          <p:cNvPr id="7" name="TextBox 6">
            <a:extLst>
              <a:ext uri="{FF2B5EF4-FFF2-40B4-BE49-F238E27FC236}">
                <a16:creationId xmlns:a16="http://schemas.microsoft.com/office/drawing/2014/main" id="{07107A61-803C-12A3-DB3D-72779EADD478}"/>
              </a:ext>
            </a:extLst>
          </p:cNvPr>
          <p:cNvSpPr txBox="1"/>
          <p:nvPr/>
        </p:nvSpPr>
        <p:spPr>
          <a:xfrm>
            <a:off x="899160" y="1696901"/>
            <a:ext cx="7467600" cy="4401205"/>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The proposed system addresses the limitations of existing oral cancer detection methods by introducing a hybrid deep learning framework. This framework integrates multiple deep learning architectures, including RNN, LSTM, GRU, GAN, and autoencoders, with traditional machine learning techniques for comprehensive feature representation and analysis. By preprocessing and combining diverse datasets encompassing oral images and clinical information, our system aims to improve accuracy and robustness in distinguishing between cancerous and non-cancerous cases. Through feature fusion and classification, we strive to enhance the efficacy of early detection and diagnosis of oral cancer. Evaluation using standard metrics such as accuracy, sensitivity, and specificity will validate the performance of our approach, demonstrating its potential to revolutionize oral cancer screening tools and improve patient outcomes.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10</a:t>
            </a:fld>
            <a:endParaRPr lang="en-US"/>
          </a:p>
        </p:txBody>
      </p:sp>
      <p:grpSp>
        <p:nvGrpSpPr>
          <p:cNvPr id="3" name="Group 2"/>
          <p:cNvGrpSpPr/>
          <p:nvPr/>
        </p:nvGrpSpPr>
        <p:grpSpPr>
          <a:xfrm>
            <a:off x="213360" y="182880"/>
            <a:ext cx="8778240" cy="1341120"/>
            <a:chOff x="213360" y="182880"/>
            <a:chExt cx="8778240" cy="1341120"/>
          </a:xfrm>
        </p:grpSpPr>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1143000" cy="1123950"/>
            </a:xfrm>
            <a:prstGeom prst="rect">
              <a:avLst/>
            </a:prstGeom>
            <a:noFill/>
            <a:ln>
              <a:noFill/>
            </a:ln>
          </p:spPr>
        </p:pic>
        <p:pic>
          <p:nvPicPr>
            <p:cNvPr id="5" name="Picture 2" descr="Related image"/>
            <p:cNvPicPr>
              <a:picLocks noChangeAspect="1" noChangeArrowheads="1"/>
            </p:cNvPicPr>
            <p:nvPr/>
          </p:nvPicPr>
          <p:blipFill>
            <a:blip r:embed="rId3" cstate="print"/>
            <a:srcRect/>
            <a:stretch>
              <a:fillRect/>
            </a:stretch>
          </p:blipFill>
          <p:spPr bwMode="auto">
            <a:xfrm>
              <a:off x="7772400" y="182880"/>
              <a:ext cx="1188720" cy="1188720"/>
            </a:xfrm>
            <a:prstGeom prst="rect">
              <a:avLst/>
            </a:prstGeom>
            <a:noFill/>
          </p:spPr>
        </p:pic>
        <p:cxnSp>
          <p:nvCxnSpPr>
            <p:cNvPr id="6" name="Straight Connector 5"/>
            <p:cNvCxnSpPr/>
            <p:nvPr/>
          </p:nvCxnSpPr>
          <p:spPr>
            <a:xfrm>
              <a:off x="213360" y="1524000"/>
              <a:ext cx="8778240"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1371600" y="609600"/>
              <a:ext cx="6500306" cy="461665"/>
            </a:xfrm>
            <a:prstGeom prst="rect">
              <a:avLst/>
            </a:prstGeom>
            <a:noFill/>
          </p:spPr>
          <p:txBody>
            <a:bodyPr wrap="none" rtlCol="0">
              <a:spAutoFit/>
            </a:bodyPr>
            <a:lstStyle/>
            <a:p>
              <a:pPr algn="ctr"/>
              <a:r>
                <a:rPr lang="en-US" sz="2400" b="1" dirty="0">
                  <a:latin typeface="Times New Roman" pitchFamily="18" charset="0"/>
                  <a:cs typeface="Times New Roman" pitchFamily="18" charset="0"/>
                </a:rPr>
                <a:t>BLOCK DIAGRAM OF PROPOSED SYSTEM</a:t>
              </a:r>
            </a:p>
          </p:txBody>
        </p:sp>
      </p:grpSp>
      <p:pic>
        <p:nvPicPr>
          <p:cNvPr id="10" name="Picture 9">
            <a:extLst>
              <a:ext uri="{FF2B5EF4-FFF2-40B4-BE49-F238E27FC236}">
                <a16:creationId xmlns:a16="http://schemas.microsoft.com/office/drawing/2014/main" id="{8E7404CA-892C-0BA1-844F-00728256C765}"/>
              </a:ext>
            </a:extLst>
          </p:cNvPr>
          <p:cNvPicPr>
            <a:picLocks noChangeAspect="1"/>
          </p:cNvPicPr>
          <p:nvPr/>
        </p:nvPicPr>
        <p:blipFill>
          <a:blip r:embed="rId4"/>
          <a:stretch>
            <a:fillRect/>
          </a:stretch>
        </p:blipFill>
        <p:spPr>
          <a:xfrm>
            <a:off x="32657" y="1760337"/>
            <a:ext cx="8928463" cy="484419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11</a:t>
            </a:fld>
            <a:endParaRPr lang="en-US"/>
          </a:p>
        </p:txBody>
      </p:sp>
      <p:grpSp>
        <p:nvGrpSpPr>
          <p:cNvPr id="3" name="Group 2"/>
          <p:cNvGrpSpPr/>
          <p:nvPr/>
        </p:nvGrpSpPr>
        <p:grpSpPr>
          <a:xfrm>
            <a:off x="213360" y="182880"/>
            <a:ext cx="8778240" cy="1341120"/>
            <a:chOff x="213360" y="182880"/>
            <a:chExt cx="8778240" cy="1341120"/>
          </a:xfrm>
        </p:grpSpPr>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1143000" cy="1123950"/>
            </a:xfrm>
            <a:prstGeom prst="rect">
              <a:avLst/>
            </a:prstGeom>
            <a:noFill/>
            <a:ln>
              <a:noFill/>
            </a:ln>
          </p:spPr>
        </p:pic>
        <p:pic>
          <p:nvPicPr>
            <p:cNvPr id="5" name="Picture 2" descr="Related image"/>
            <p:cNvPicPr>
              <a:picLocks noChangeAspect="1" noChangeArrowheads="1"/>
            </p:cNvPicPr>
            <p:nvPr/>
          </p:nvPicPr>
          <p:blipFill>
            <a:blip r:embed="rId3" cstate="print"/>
            <a:srcRect/>
            <a:stretch>
              <a:fillRect/>
            </a:stretch>
          </p:blipFill>
          <p:spPr bwMode="auto">
            <a:xfrm>
              <a:off x="7772400" y="182880"/>
              <a:ext cx="1188720" cy="1188720"/>
            </a:xfrm>
            <a:prstGeom prst="rect">
              <a:avLst/>
            </a:prstGeom>
            <a:noFill/>
          </p:spPr>
        </p:pic>
        <p:cxnSp>
          <p:nvCxnSpPr>
            <p:cNvPr id="6" name="Straight Connector 5"/>
            <p:cNvCxnSpPr/>
            <p:nvPr/>
          </p:nvCxnSpPr>
          <p:spPr>
            <a:xfrm>
              <a:off x="213360" y="1524000"/>
              <a:ext cx="8778240"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4529387" y="609600"/>
              <a:ext cx="184731" cy="523220"/>
            </a:xfrm>
            <a:prstGeom prst="rect">
              <a:avLst/>
            </a:prstGeom>
            <a:noFill/>
          </p:spPr>
          <p:txBody>
            <a:bodyPr wrap="none" rtlCol="0">
              <a:spAutoFit/>
            </a:bodyPr>
            <a:lstStyle/>
            <a:p>
              <a:pPr algn="ctr"/>
              <a:endParaRPr lang="en-US" sz="2800" b="1" dirty="0">
                <a:latin typeface="Times New Roman" pitchFamily="18" charset="0"/>
                <a:cs typeface="Times New Roman" pitchFamily="18" charset="0"/>
              </a:endParaRPr>
            </a:p>
          </p:txBody>
        </p:sp>
      </p:grpSp>
      <p:sp>
        <p:nvSpPr>
          <p:cNvPr id="8" name="Rectangle 7"/>
          <p:cNvSpPr/>
          <p:nvPr/>
        </p:nvSpPr>
        <p:spPr>
          <a:xfrm>
            <a:off x="1447800" y="528935"/>
            <a:ext cx="6324600" cy="461665"/>
          </a:xfrm>
          <a:prstGeom prst="rect">
            <a:avLst/>
          </a:prstGeom>
        </p:spPr>
        <p:txBody>
          <a:bodyPr wrap="square">
            <a:spAutoFit/>
          </a:bodyPr>
          <a:lstStyle/>
          <a:p>
            <a:pPr algn="ctr"/>
            <a:r>
              <a:rPr lang="en-US" sz="2400" b="1" dirty="0">
                <a:latin typeface="Times New Roman" pitchFamily="18" charset="0"/>
                <a:cs typeface="Times New Roman" pitchFamily="18" charset="0"/>
              </a:rPr>
              <a:t>FLOW CHART OF  PROPOSED SYSTEM</a:t>
            </a:r>
          </a:p>
        </p:txBody>
      </p:sp>
      <p:pic>
        <p:nvPicPr>
          <p:cNvPr id="9" name="Picture 8">
            <a:extLst>
              <a:ext uri="{FF2B5EF4-FFF2-40B4-BE49-F238E27FC236}">
                <a16:creationId xmlns:a16="http://schemas.microsoft.com/office/drawing/2014/main" id="{33B42186-58E1-52EE-958F-0806EF65B4D8}"/>
              </a:ext>
            </a:extLst>
          </p:cNvPr>
          <p:cNvPicPr>
            <a:picLocks noChangeAspect="1"/>
          </p:cNvPicPr>
          <p:nvPr/>
        </p:nvPicPr>
        <p:blipFill>
          <a:blip r:embed="rId4"/>
          <a:stretch>
            <a:fillRect/>
          </a:stretch>
        </p:blipFill>
        <p:spPr>
          <a:xfrm>
            <a:off x="884718" y="1976736"/>
            <a:ext cx="7374564" cy="422721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12</a:t>
            </a:fld>
            <a:endParaRPr lang="en-US"/>
          </a:p>
        </p:txBody>
      </p:sp>
      <p:grpSp>
        <p:nvGrpSpPr>
          <p:cNvPr id="3" name="Group 2"/>
          <p:cNvGrpSpPr/>
          <p:nvPr/>
        </p:nvGrpSpPr>
        <p:grpSpPr>
          <a:xfrm>
            <a:off x="213360" y="182880"/>
            <a:ext cx="8778240" cy="1341120"/>
            <a:chOff x="213360" y="182880"/>
            <a:chExt cx="8778240" cy="1341120"/>
          </a:xfrm>
        </p:grpSpPr>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1143000" cy="1123950"/>
            </a:xfrm>
            <a:prstGeom prst="rect">
              <a:avLst/>
            </a:prstGeom>
            <a:noFill/>
            <a:ln>
              <a:noFill/>
            </a:ln>
          </p:spPr>
        </p:pic>
        <p:pic>
          <p:nvPicPr>
            <p:cNvPr id="5" name="Picture 2" descr="Related image"/>
            <p:cNvPicPr>
              <a:picLocks noChangeAspect="1" noChangeArrowheads="1"/>
            </p:cNvPicPr>
            <p:nvPr/>
          </p:nvPicPr>
          <p:blipFill>
            <a:blip r:embed="rId3" cstate="print"/>
            <a:srcRect/>
            <a:stretch>
              <a:fillRect/>
            </a:stretch>
          </p:blipFill>
          <p:spPr bwMode="auto">
            <a:xfrm>
              <a:off x="7772400" y="182880"/>
              <a:ext cx="1188720" cy="1188720"/>
            </a:xfrm>
            <a:prstGeom prst="rect">
              <a:avLst/>
            </a:prstGeom>
            <a:noFill/>
          </p:spPr>
        </p:pic>
        <p:cxnSp>
          <p:nvCxnSpPr>
            <p:cNvPr id="6" name="Straight Connector 5"/>
            <p:cNvCxnSpPr/>
            <p:nvPr/>
          </p:nvCxnSpPr>
          <p:spPr>
            <a:xfrm>
              <a:off x="213360" y="1524000"/>
              <a:ext cx="8778240"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2607416" y="533400"/>
              <a:ext cx="4028668" cy="584775"/>
            </a:xfrm>
            <a:prstGeom prst="rect">
              <a:avLst/>
            </a:prstGeom>
            <a:noFill/>
          </p:spPr>
          <p:txBody>
            <a:bodyPr wrap="none" rtlCol="0">
              <a:spAutoFit/>
            </a:bodyPr>
            <a:lstStyle/>
            <a:p>
              <a:pPr algn="ctr"/>
              <a:r>
                <a:rPr lang="en-US" sz="3200" b="1" dirty="0">
                  <a:latin typeface="Times New Roman" pitchFamily="18" charset="0"/>
                  <a:cs typeface="Times New Roman" pitchFamily="18" charset="0"/>
                </a:rPr>
                <a:t>ALGORITHM USED</a:t>
              </a:r>
            </a:p>
          </p:txBody>
        </p:sp>
      </p:grpSp>
      <p:sp>
        <p:nvSpPr>
          <p:cNvPr id="8" name="Rectangle 3"/>
          <p:cNvSpPr txBox="1">
            <a:spLocks noChangeArrowheads="1"/>
          </p:cNvSpPr>
          <p:nvPr/>
        </p:nvSpPr>
        <p:spPr>
          <a:xfrm>
            <a:off x="457200" y="2057399"/>
            <a:ext cx="8229600" cy="407352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None/>
              <a:tabLst/>
              <a:defRPr/>
            </a:pPr>
            <a:r>
              <a:rPr lang="en-US" sz="2800" dirty="0">
                <a:latin typeface="Times New Roman" panose="02020603050405020304" pitchFamily="18" charset="0"/>
                <a:cs typeface="Times New Roman" pitchFamily="18" charset="0"/>
              </a:rPr>
              <a:t>1.Recuurent Neural Networks (</a:t>
            </a:r>
            <a:r>
              <a:rPr lang="en-IN" sz="2800" b="0" i="0" dirty="0">
                <a:solidFill>
                  <a:srgbClr val="0D0D0D"/>
                </a:solidFill>
                <a:effectLst/>
                <a:latin typeface="Times New Roman" panose="02020603050405020304" pitchFamily="18" charset="0"/>
                <a:cs typeface="Times New Roman" panose="02020603050405020304" pitchFamily="18" charset="0"/>
              </a:rPr>
              <a:t>RNN)</a:t>
            </a:r>
            <a:r>
              <a:rPr lang="en-IN" sz="2800" dirty="0">
                <a:solidFill>
                  <a:srgbClr val="0D0D0D"/>
                </a:solidFill>
                <a:latin typeface="Times New Roman" panose="02020603050405020304" pitchFamily="18" charset="0"/>
                <a:cs typeface="Times New Roman" panose="02020603050405020304"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None/>
              <a:tabLst/>
              <a:defRPr/>
            </a:pPr>
            <a:r>
              <a:rPr lang="en-IN" sz="2800" dirty="0">
                <a:solidFill>
                  <a:srgbClr val="0D0D0D"/>
                </a:solidFill>
                <a:latin typeface="Times New Roman" panose="02020603050405020304" pitchFamily="18" charset="0"/>
                <a:cs typeface="Times New Roman" panose="02020603050405020304" pitchFamily="18" charset="0"/>
              </a:rPr>
              <a:t>2.</a:t>
            </a:r>
            <a:r>
              <a:rPr lang="en-IN" sz="2800" b="0" i="0" dirty="0">
                <a:solidFill>
                  <a:srgbClr val="0D0D0D"/>
                </a:solidFill>
                <a:effectLst/>
                <a:latin typeface="Times New Roman" panose="02020603050405020304" pitchFamily="18" charset="0"/>
                <a:cs typeface="Times New Roman" panose="02020603050405020304" pitchFamily="18" charset="0"/>
              </a:rPr>
              <a:t>Long Short-Term Memory Networks (LSTM)</a:t>
            </a:r>
            <a:r>
              <a:rPr lang="en-IN" sz="2800" dirty="0">
                <a:solidFill>
                  <a:srgbClr val="0D0D0D"/>
                </a:solidFill>
                <a:latin typeface="Times New Roman" panose="02020603050405020304" pitchFamily="18" charset="0"/>
                <a:cs typeface="Times New Roman" panose="02020603050405020304"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None/>
              <a:tabLst/>
              <a:defRPr/>
            </a:pPr>
            <a:r>
              <a:rPr lang="en-IN" sz="2800" b="0" i="0" dirty="0">
                <a:solidFill>
                  <a:srgbClr val="0D0D0D"/>
                </a:solidFill>
                <a:effectLst/>
                <a:latin typeface="Times New Roman" panose="02020603050405020304" pitchFamily="18" charset="0"/>
                <a:cs typeface="Times New Roman" panose="02020603050405020304" pitchFamily="18" charset="0"/>
              </a:rPr>
              <a:t>3.Gated Recurrent Units</a:t>
            </a:r>
            <a:r>
              <a:rPr lang="en-IN" sz="2800" dirty="0">
                <a:solidFill>
                  <a:srgbClr val="0D0D0D"/>
                </a:solidFill>
                <a:latin typeface="Times New Roman" panose="02020603050405020304" pitchFamily="18" charset="0"/>
                <a:cs typeface="Times New Roman" panose="02020603050405020304" pitchFamily="18" charset="0"/>
              </a:rPr>
              <a:t> (</a:t>
            </a:r>
            <a:r>
              <a:rPr lang="en-IN" sz="2800" b="0" i="0" dirty="0">
                <a:solidFill>
                  <a:srgbClr val="0D0D0D"/>
                </a:solidFill>
                <a:effectLst/>
                <a:latin typeface="Times New Roman" panose="02020603050405020304" pitchFamily="18" charset="0"/>
                <a:cs typeface="Times New Roman" panose="02020603050405020304" pitchFamily="18" charset="0"/>
              </a:rPr>
              <a:t>GRU)</a:t>
            </a:r>
            <a:r>
              <a:rPr lang="en-IN" sz="2800" dirty="0">
                <a:solidFill>
                  <a:srgbClr val="0D0D0D"/>
                </a:solidFill>
                <a:latin typeface="Times New Roman" panose="02020603050405020304" pitchFamily="18" charset="0"/>
                <a:cs typeface="Times New Roman" panose="02020603050405020304"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None/>
              <a:tabLst/>
              <a:defRPr/>
            </a:pPr>
            <a:r>
              <a:rPr lang="en-IN" sz="2800" dirty="0">
                <a:solidFill>
                  <a:srgbClr val="0D0D0D"/>
                </a:solidFill>
                <a:latin typeface="Times New Roman" panose="02020603050405020304" pitchFamily="18" charset="0"/>
                <a:cs typeface="Times New Roman" panose="02020603050405020304" pitchFamily="18" charset="0"/>
              </a:rPr>
              <a:t>4.Generative Adversarial Networks (</a:t>
            </a:r>
            <a:r>
              <a:rPr lang="en-IN" sz="2800" b="0" i="0" dirty="0">
                <a:solidFill>
                  <a:srgbClr val="0D0D0D"/>
                </a:solidFill>
                <a:effectLst/>
                <a:latin typeface="Times New Roman" panose="02020603050405020304" pitchFamily="18" charset="0"/>
                <a:cs typeface="Times New Roman" panose="02020603050405020304" pitchFamily="18" charset="0"/>
              </a:rPr>
              <a:t>GAN)</a:t>
            </a:r>
            <a:r>
              <a:rPr lang="en-IN" sz="2800" dirty="0">
                <a:solidFill>
                  <a:srgbClr val="0D0D0D"/>
                </a:solidFill>
                <a:latin typeface="Times New Roman" panose="02020603050405020304" pitchFamily="18" charset="0"/>
                <a:cs typeface="Times New Roman" panose="02020603050405020304"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None/>
              <a:tabLst/>
              <a:defRPr/>
            </a:pPr>
            <a:r>
              <a:rPr lang="en-IN" sz="2800" dirty="0">
                <a:solidFill>
                  <a:srgbClr val="0D0D0D"/>
                </a:solidFill>
                <a:latin typeface="Times New Roman" panose="02020603050405020304" pitchFamily="18" charset="0"/>
                <a:cs typeface="Times New Roman" panose="02020603050405020304" pitchFamily="18" charset="0"/>
              </a:rPr>
              <a:t>5.A</a:t>
            </a:r>
            <a:r>
              <a:rPr lang="en-IN" sz="2800" b="0" i="0" dirty="0">
                <a:solidFill>
                  <a:srgbClr val="0D0D0D"/>
                </a:solidFill>
                <a:effectLst/>
                <a:latin typeface="Times New Roman" panose="02020603050405020304" pitchFamily="18" charset="0"/>
                <a:cs typeface="Times New Roman" panose="02020603050405020304" pitchFamily="18" charset="0"/>
              </a:rPr>
              <a:t>utoencoders VGG16</a:t>
            </a:r>
            <a:endParaRPr kumimoji="0" lang="en-US" sz="2800" b="0" i="0" u="none" strike="noStrike" kern="1200" cap="none" spc="0" normalizeH="0" baseline="0" noProof="0" dirty="0">
              <a:ln>
                <a:noFill/>
              </a:ln>
              <a:solidFill>
                <a:schemeClr val="hlink"/>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		</a:t>
            </a:r>
            <a:endParaRPr kumimoji="0" lang="en-US" sz="3200" b="0" i="0" u="none" strike="noStrike" kern="1200" cap="none" spc="0" normalizeH="0" baseline="0" noProof="0" dirty="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None/>
              <a:tabLst/>
              <a:defRPr/>
            </a:pPr>
            <a:endParaRPr kumimoji="0" lang="en-US" sz="3200" b="0" i="0" u="sng" strike="noStrike" kern="1200" cap="none" spc="0" normalizeH="0" baseline="0" noProof="0" dirty="0">
              <a:ln>
                <a:noFill/>
              </a:ln>
              <a:solidFill>
                <a:schemeClr val="tx2"/>
              </a:solidFill>
              <a:effectLst/>
              <a:uLnTx/>
              <a:uFillTx/>
              <a:latin typeface="+mn-lt"/>
              <a:ea typeface="+mn-ea"/>
              <a:cs typeface="+mn-cs"/>
            </a:endParaRPr>
          </a:p>
        </p:txBody>
      </p:sp>
      <p:sp>
        <p:nvSpPr>
          <p:cNvPr id="10" name="TextBox 9">
            <a:extLst>
              <a:ext uri="{FF2B5EF4-FFF2-40B4-BE49-F238E27FC236}">
                <a16:creationId xmlns:a16="http://schemas.microsoft.com/office/drawing/2014/main" id="{458EF503-E37A-C68E-FF85-E670E06FA2C9}"/>
              </a:ext>
            </a:extLst>
          </p:cNvPr>
          <p:cNvSpPr txBox="1"/>
          <p:nvPr/>
        </p:nvSpPr>
        <p:spPr>
          <a:xfrm>
            <a:off x="2286000" y="3244334"/>
            <a:ext cx="4572000" cy="369332"/>
          </a:xfrm>
          <a:prstGeom prst="rect">
            <a:avLst/>
          </a:prstGeom>
          <a:noFill/>
        </p:spPr>
        <p:txBody>
          <a:bodyPr wrap="square">
            <a:spAutoFit/>
          </a:bodyPr>
          <a:lstStyle/>
          <a:p>
            <a:r>
              <a:rPr lang="en-IN" b="0" i="0" dirty="0">
                <a:solidFill>
                  <a:srgbClr val="0D0D0D"/>
                </a:solidFill>
                <a:effectLst/>
                <a:latin typeface="Söhne"/>
              </a:rPr>
              <a:t> </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F7742-5AA0-294B-D03A-AF9BF13C342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DE2843-295D-5905-7CED-3B5E2CC5A4C1}"/>
              </a:ext>
            </a:extLst>
          </p:cNvPr>
          <p:cNvSpPr>
            <a:spLocks noGrp="1"/>
          </p:cNvSpPr>
          <p:nvPr>
            <p:ph type="sldNum" sz="quarter" idx="12"/>
          </p:nvPr>
        </p:nvSpPr>
        <p:spPr/>
        <p:txBody>
          <a:bodyPr/>
          <a:lstStyle/>
          <a:p>
            <a:fld id="{B6F15528-21DE-4FAA-801E-634DDDAF4B2B}" type="slidenum">
              <a:rPr lang="en-US" smtClean="0"/>
              <a:pPr/>
              <a:t>13</a:t>
            </a:fld>
            <a:endParaRPr lang="en-US"/>
          </a:p>
        </p:txBody>
      </p:sp>
      <p:grpSp>
        <p:nvGrpSpPr>
          <p:cNvPr id="3" name="Group 2">
            <a:extLst>
              <a:ext uri="{FF2B5EF4-FFF2-40B4-BE49-F238E27FC236}">
                <a16:creationId xmlns:a16="http://schemas.microsoft.com/office/drawing/2014/main" id="{12B57623-10BF-D4B7-6EC8-280E1A622155}"/>
              </a:ext>
            </a:extLst>
          </p:cNvPr>
          <p:cNvGrpSpPr/>
          <p:nvPr/>
        </p:nvGrpSpPr>
        <p:grpSpPr>
          <a:xfrm>
            <a:off x="213360" y="182880"/>
            <a:ext cx="8778240" cy="1341120"/>
            <a:chOff x="213360" y="182880"/>
            <a:chExt cx="8778240" cy="1341120"/>
          </a:xfrm>
        </p:grpSpPr>
        <p:pic>
          <p:nvPicPr>
            <p:cNvPr id="4" name="Picture 3">
              <a:extLst>
                <a:ext uri="{FF2B5EF4-FFF2-40B4-BE49-F238E27FC236}">
                  <a16:creationId xmlns:a16="http://schemas.microsoft.com/office/drawing/2014/main" id="{B4FA4946-4440-C6C8-826D-A8BC3390B6B2}"/>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1143000" cy="1123950"/>
            </a:xfrm>
            <a:prstGeom prst="rect">
              <a:avLst/>
            </a:prstGeom>
            <a:noFill/>
            <a:ln>
              <a:noFill/>
            </a:ln>
          </p:spPr>
        </p:pic>
        <p:pic>
          <p:nvPicPr>
            <p:cNvPr id="5" name="Picture 2" descr="Related image">
              <a:extLst>
                <a:ext uri="{FF2B5EF4-FFF2-40B4-BE49-F238E27FC236}">
                  <a16:creationId xmlns:a16="http://schemas.microsoft.com/office/drawing/2014/main" id="{C5A1CA81-2556-FA28-AC64-541DBEE39E82}"/>
                </a:ext>
              </a:extLst>
            </p:cNvPr>
            <p:cNvPicPr>
              <a:picLocks noChangeAspect="1" noChangeArrowheads="1"/>
            </p:cNvPicPr>
            <p:nvPr/>
          </p:nvPicPr>
          <p:blipFill>
            <a:blip r:embed="rId3" cstate="print"/>
            <a:srcRect/>
            <a:stretch>
              <a:fillRect/>
            </a:stretch>
          </p:blipFill>
          <p:spPr bwMode="auto">
            <a:xfrm>
              <a:off x="7772400" y="182880"/>
              <a:ext cx="1188720" cy="1188720"/>
            </a:xfrm>
            <a:prstGeom prst="rect">
              <a:avLst/>
            </a:prstGeom>
            <a:noFill/>
          </p:spPr>
        </p:pic>
        <p:cxnSp>
          <p:nvCxnSpPr>
            <p:cNvPr id="6" name="Straight Connector 5">
              <a:extLst>
                <a:ext uri="{FF2B5EF4-FFF2-40B4-BE49-F238E27FC236}">
                  <a16:creationId xmlns:a16="http://schemas.microsoft.com/office/drawing/2014/main" id="{A48A058F-6124-A369-4CC3-7F22CB9BF40E}"/>
                </a:ext>
              </a:extLst>
            </p:cNvPr>
            <p:cNvCxnSpPr/>
            <p:nvPr/>
          </p:nvCxnSpPr>
          <p:spPr>
            <a:xfrm>
              <a:off x="213360" y="1524000"/>
              <a:ext cx="8778240"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10043B55-2A8C-9F8B-0B26-E5F2150E9304}"/>
                </a:ext>
              </a:extLst>
            </p:cNvPr>
            <p:cNvSpPr txBox="1"/>
            <p:nvPr/>
          </p:nvSpPr>
          <p:spPr>
            <a:xfrm>
              <a:off x="1844099" y="533400"/>
              <a:ext cx="5555303" cy="584775"/>
            </a:xfrm>
            <a:prstGeom prst="rect">
              <a:avLst/>
            </a:prstGeom>
            <a:noFill/>
          </p:spPr>
          <p:txBody>
            <a:bodyPr wrap="none" rtlCol="0">
              <a:spAutoFit/>
            </a:bodyPr>
            <a:lstStyle/>
            <a:p>
              <a:pPr algn="ctr"/>
              <a:r>
                <a:rPr lang="en-US" sz="3200" b="1" dirty="0">
                  <a:latin typeface="Times New Roman" pitchFamily="18" charset="0"/>
                  <a:cs typeface="Times New Roman" pitchFamily="18" charset="0"/>
                </a:rPr>
                <a:t>STAGES OF ORAL CANCER</a:t>
              </a:r>
            </a:p>
          </p:txBody>
        </p:sp>
      </p:grpSp>
      <p:sp>
        <p:nvSpPr>
          <p:cNvPr id="8" name="Rectangle 3">
            <a:extLst>
              <a:ext uri="{FF2B5EF4-FFF2-40B4-BE49-F238E27FC236}">
                <a16:creationId xmlns:a16="http://schemas.microsoft.com/office/drawing/2014/main" id="{F68B0CAF-D8FD-830B-D8FF-DFF1E13BFDE6}"/>
              </a:ext>
            </a:extLst>
          </p:cNvPr>
          <p:cNvSpPr txBox="1">
            <a:spLocks noChangeArrowheads="1"/>
          </p:cNvSpPr>
          <p:nvPr/>
        </p:nvSpPr>
        <p:spPr>
          <a:xfrm>
            <a:off x="470418" y="1392237"/>
            <a:ext cx="8229600" cy="4073525"/>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		</a:t>
            </a:r>
            <a:endParaRPr kumimoji="0" lang="en-US" sz="3200" b="0" i="0" u="none" strike="noStrike" kern="1200" cap="none" spc="0" normalizeH="0" baseline="0" noProof="0" dirty="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None/>
              <a:tabLst/>
              <a:defRPr/>
            </a:pPr>
            <a:endParaRPr kumimoji="0" lang="en-US" sz="3200" b="0" i="0" u="sng" strike="noStrike" kern="1200" cap="none" spc="0" normalizeH="0" baseline="0" noProof="0" dirty="0">
              <a:ln>
                <a:noFill/>
              </a:ln>
              <a:solidFill>
                <a:schemeClr val="tx2"/>
              </a:solidFill>
              <a:effectLst/>
              <a:uLnTx/>
              <a:uFillTx/>
              <a:latin typeface="+mn-lt"/>
              <a:ea typeface="+mn-ea"/>
              <a:cs typeface="+mn-cs"/>
            </a:endParaRPr>
          </a:p>
        </p:txBody>
      </p:sp>
      <p:sp>
        <p:nvSpPr>
          <p:cNvPr id="10" name="TextBox 9">
            <a:extLst>
              <a:ext uri="{FF2B5EF4-FFF2-40B4-BE49-F238E27FC236}">
                <a16:creationId xmlns:a16="http://schemas.microsoft.com/office/drawing/2014/main" id="{5063D2FC-F6E9-294B-13AE-81D0A0FD44E5}"/>
              </a:ext>
            </a:extLst>
          </p:cNvPr>
          <p:cNvSpPr txBox="1"/>
          <p:nvPr/>
        </p:nvSpPr>
        <p:spPr>
          <a:xfrm>
            <a:off x="-19050" y="2775511"/>
            <a:ext cx="2983832" cy="369332"/>
          </a:xfrm>
          <a:prstGeom prst="rect">
            <a:avLst/>
          </a:prstGeom>
          <a:noFill/>
        </p:spPr>
        <p:txBody>
          <a:bodyPr wrap="square">
            <a:spAutoFit/>
          </a:bodyPr>
          <a:lstStyle/>
          <a:p>
            <a:r>
              <a:rPr lang="en-IN" b="0" i="0" dirty="0">
                <a:solidFill>
                  <a:srgbClr val="0D0D0D"/>
                </a:solidFill>
                <a:effectLst/>
                <a:latin typeface="Söhne"/>
              </a:rPr>
              <a:t> </a:t>
            </a:r>
            <a:endParaRPr lang="en-IN" dirty="0"/>
          </a:p>
        </p:txBody>
      </p:sp>
      <p:pic>
        <p:nvPicPr>
          <p:cNvPr id="1026" name="Picture 2" descr="Oral Cancer_trucare">
            <a:extLst>
              <a:ext uri="{FF2B5EF4-FFF2-40B4-BE49-F238E27FC236}">
                <a16:creationId xmlns:a16="http://schemas.microsoft.com/office/drawing/2014/main" id="{D3BA47CB-3382-DF2D-C613-31DB788AAC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13359" y="3429000"/>
            <a:ext cx="2367176" cy="158261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0213789-98D1-4378-CC59-31B12DC8B113}"/>
              </a:ext>
            </a:extLst>
          </p:cNvPr>
          <p:cNvSpPr txBox="1"/>
          <p:nvPr/>
        </p:nvSpPr>
        <p:spPr>
          <a:xfrm rot="10800000" flipH="1" flipV="1">
            <a:off x="2607416" y="1830274"/>
            <a:ext cx="6003184" cy="1200329"/>
          </a:xfrm>
          <a:prstGeom prst="rect">
            <a:avLst/>
          </a:prstGeom>
          <a:noFill/>
        </p:spPr>
        <p:txBody>
          <a:bodyPr wrap="square" rtlCol="0">
            <a:spAutoFit/>
          </a:bodyPr>
          <a:lstStyle/>
          <a:p>
            <a:r>
              <a:rPr lang="en-US" b="1" dirty="0">
                <a:effectLst/>
                <a:latin typeface="Times New Roman" panose="02020603050405020304" pitchFamily="18" charset="0"/>
                <a:cs typeface="Times New Roman" panose="02020603050405020304" pitchFamily="18" charset="0"/>
              </a:rPr>
              <a:t>STAGE 0:</a:t>
            </a:r>
            <a:r>
              <a:rPr lang="en-US" dirty="0">
                <a:effectLst/>
                <a:latin typeface="Times New Roman" panose="02020603050405020304" pitchFamily="18" charset="0"/>
                <a:cs typeface="Times New Roman" panose="02020603050405020304" pitchFamily="18" charset="0"/>
              </a:rPr>
              <a:t> The cancer is only in the lining of the mouth or lips.</a:t>
            </a:r>
          </a:p>
          <a:p>
            <a:br>
              <a:rPr lang="en-US" dirty="0">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1030" name="Picture 6">
            <a:extLst>
              <a:ext uri="{FF2B5EF4-FFF2-40B4-BE49-F238E27FC236}">
                <a16:creationId xmlns:a16="http://schemas.microsoft.com/office/drawing/2014/main" id="{D76F35DD-0458-BBA9-07E5-C347F7B130E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3360" y="1695451"/>
            <a:ext cx="2367177" cy="158261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75BB72A-E977-6926-CCF5-E8E19BDACDF2}"/>
              </a:ext>
            </a:extLst>
          </p:cNvPr>
          <p:cNvSpPr txBox="1"/>
          <p:nvPr/>
        </p:nvSpPr>
        <p:spPr>
          <a:xfrm>
            <a:off x="2607416" y="3573974"/>
            <a:ext cx="6003184" cy="646331"/>
          </a:xfrm>
          <a:prstGeom prst="rect">
            <a:avLst/>
          </a:prstGeom>
          <a:noFill/>
        </p:spPr>
        <p:txBody>
          <a:bodyPr wrap="square" rtlCol="0">
            <a:spAutoFit/>
          </a:bodyPr>
          <a:lstStyle/>
          <a:p>
            <a:r>
              <a:rPr lang="en-US" b="1" i="0" dirty="0">
                <a:solidFill>
                  <a:srgbClr val="040C28"/>
                </a:solidFill>
                <a:effectLst/>
                <a:latin typeface="Times New Roman" panose="02020603050405020304" pitchFamily="18" charset="0"/>
                <a:cs typeface="Times New Roman" panose="02020603050405020304" pitchFamily="18" charset="0"/>
              </a:rPr>
              <a:t>STAGE 1</a:t>
            </a:r>
            <a:r>
              <a:rPr lang="en-US" b="0" i="0" dirty="0">
                <a:solidFill>
                  <a:srgbClr val="040C28"/>
                </a:solidFill>
                <a:effectLst/>
                <a:latin typeface="Times New Roman" panose="02020603050405020304" pitchFamily="18" charset="0"/>
                <a:cs typeface="Times New Roman" panose="02020603050405020304" pitchFamily="18" charset="0"/>
              </a:rPr>
              <a:t>:This is the earliest stage of invasive cancer</a:t>
            </a:r>
            <a:r>
              <a:rPr lang="en-US" b="0" i="0" dirty="0">
                <a:solidFill>
                  <a:srgbClr val="202124"/>
                </a:solidFill>
                <a:effectLst/>
                <a:latin typeface="Times New Roman" panose="02020603050405020304" pitchFamily="18" charset="0"/>
                <a:cs typeface="Times New Roman" panose="02020603050405020304" pitchFamily="18" charset="0"/>
              </a:rPr>
              <a:t>. It means </a:t>
            </a:r>
            <a:r>
              <a:rPr lang="en-US" dirty="0">
                <a:solidFill>
                  <a:srgbClr val="000000"/>
                </a:solidFill>
                <a:latin typeface="Times New Roman" panose="02020603050405020304" pitchFamily="18" charset="0"/>
                <a:cs typeface="Times New Roman" panose="02020603050405020304" pitchFamily="18" charset="0"/>
              </a:rPr>
              <a:t>the</a:t>
            </a:r>
            <a:r>
              <a:rPr lang="en-US" b="0" i="0" dirty="0">
                <a:solidFill>
                  <a:srgbClr val="000000"/>
                </a:solidFill>
                <a:effectLst/>
                <a:latin typeface="Times New Roman" panose="02020603050405020304" pitchFamily="18" charset="0"/>
                <a:cs typeface="Times New Roman" panose="02020603050405020304" pitchFamily="18" charset="0"/>
              </a:rPr>
              <a:t> tumor is 2 cm or smaller.</a:t>
            </a:r>
            <a:endParaRPr lang="en-IN" dirty="0">
              <a:latin typeface="Times New Roman" panose="02020603050405020304" pitchFamily="18" charset="0"/>
              <a:cs typeface="Times New Roman" panose="02020603050405020304" pitchFamily="18" charset="0"/>
            </a:endParaRPr>
          </a:p>
        </p:txBody>
      </p:sp>
      <p:pic>
        <p:nvPicPr>
          <p:cNvPr id="1032" name="Picture 8" descr="Cancers of the Oral Mucosa: Background, Pathophysiology, Etiology">
            <a:extLst>
              <a:ext uri="{FF2B5EF4-FFF2-40B4-BE49-F238E27FC236}">
                <a16:creationId xmlns:a16="http://schemas.microsoft.com/office/drawing/2014/main" id="{BADCF44F-8C70-AE83-3CFC-3DEA4BB0AA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 y="5162549"/>
            <a:ext cx="2367176" cy="1466847"/>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D4E8218-E2E1-20E8-937C-4A86AA802B93}"/>
              </a:ext>
            </a:extLst>
          </p:cNvPr>
          <p:cNvSpPr txBox="1"/>
          <p:nvPr/>
        </p:nvSpPr>
        <p:spPr>
          <a:xfrm flipH="1">
            <a:off x="2607413" y="5333999"/>
            <a:ext cx="6003185" cy="646331"/>
          </a:xfrm>
          <a:prstGeom prst="rect">
            <a:avLst/>
          </a:prstGeom>
          <a:noFill/>
        </p:spPr>
        <p:txBody>
          <a:bodyPr wrap="square" rtlCol="0">
            <a:spAutoFit/>
          </a:bodyPr>
          <a:lstStyle/>
          <a:p>
            <a:r>
              <a:rPr lang="en-US" b="1" i="0" dirty="0">
                <a:solidFill>
                  <a:srgbClr val="000000"/>
                </a:solidFill>
                <a:effectLst/>
                <a:latin typeface="Times New Roman" panose="02020603050405020304" pitchFamily="18" charset="0"/>
                <a:cs typeface="Times New Roman" panose="02020603050405020304" pitchFamily="18" charset="0"/>
              </a:rPr>
              <a:t>STAGE 2</a:t>
            </a:r>
            <a:r>
              <a:rPr lang="en-US" b="0" i="0" dirty="0">
                <a:solidFill>
                  <a:srgbClr val="000000"/>
                </a:solidFill>
                <a:effectLst/>
                <a:latin typeface="Times New Roman" panose="02020603050405020304" pitchFamily="18" charset="0"/>
                <a:cs typeface="Times New Roman" panose="02020603050405020304" pitchFamily="18" charset="0"/>
              </a:rPr>
              <a:t>:The tumor is larger than 2 cm but no more than 4 cm.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2109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14</a:t>
            </a:fld>
            <a:endParaRPr lang="en-US"/>
          </a:p>
        </p:txBody>
      </p:sp>
      <p:grpSp>
        <p:nvGrpSpPr>
          <p:cNvPr id="3" name="Group 2"/>
          <p:cNvGrpSpPr/>
          <p:nvPr/>
        </p:nvGrpSpPr>
        <p:grpSpPr>
          <a:xfrm>
            <a:off x="182880" y="374968"/>
            <a:ext cx="8778240" cy="1341120"/>
            <a:chOff x="213360" y="182880"/>
            <a:chExt cx="8778240" cy="1341120"/>
          </a:xfrm>
        </p:grpSpPr>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1143000" cy="1123950"/>
            </a:xfrm>
            <a:prstGeom prst="rect">
              <a:avLst/>
            </a:prstGeom>
            <a:noFill/>
            <a:ln>
              <a:noFill/>
            </a:ln>
          </p:spPr>
        </p:pic>
        <p:pic>
          <p:nvPicPr>
            <p:cNvPr id="5" name="Picture 2" descr="Related image"/>
            <p:cNvPicPr>
              <a:picLocks noChangeAspect="1" noChangeArrowheads="1"/>
            </p:cNvPicPr>
            <p:nvPr/>
          </p:nvPicPr>
          <p:blipFill>
            <a:blip r:embed="rId3" cstate="print"/>
            <a:srcRect/>
            <a:stretch>
              <a:fillRect/>
            </a:stretch>
          </p:blipFill>
          <p:spPr bwMode="auto">
            <a:xfrm>
              <a:off x="7772400" y="182880"/>
              <a:ext cx="1188720" cy="1188720"/>
            </a:xfrm>
            <a:prstGeom prst="rect">
              <a:avLst/>
            </a:prstGeom>
            <a:noFill/>
          </p:spPr>
        </p:pic>
        <p:cxnSp>
          <p:nvCxnSpPr>
            <p:cNvPr id="6" name="Straight Connector 5"/>
            <p:cNvCxnSpPr/>
            <p:nvPr/>
          </p:nvCxnSpPr>
          <p:spPr>
            <a:xfrm>
              <a:off x="213360" y="1524000"/>
              <a:ext cx="8778240"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1844102" y="533400"/>
              <a:ext cx="5555303" cy="584775"/>
            </a:xfrm>
            <a:prstGeom prst="rect">
              <a:avLst/>
            </a:prstGeom>
            <a:noFill/>
          </p:spPr>
          <p:txBody>
            <a:bodyPr wrap="none" rtlCol="0">
              <a:spAutoFit/>
            </a:bodyPr>
            <a:lstStyle/>
            <a:p>
              <a:pPr algn="ctr"/>
              <a:r>
                <a:rPr lang="en-US" sz="3200" b="1" dirty="0">
                  <a:latin typeface="Times New Roman" pitchFamily="18" charset="0"/>
                  <a:cs typeface="Times New Roman" pitchFamily="18" charset="0"/>
                </a:rPr>
                <a:t>STAGES OF ORAL CANCER</a:t>
              </a:r>
            </a:p>
          </p:txBody>
        </p:sp>
      </p:grpSp>
      <p:sp>
        <p:nvSpPr>
          <p:cNvPr id="9" name="Rectangle 8">
            <a:extLst>
              <a:ext uri="{FF2B5EF4-FFF2-40B4-BE49-F238E27FC236}">
                <a16:creationId xmlns:a16="http://schemas.microsoft.com/office/drawing/2014/main" id="{72C9B21A-E434-D2D6-16B8-3D9F54780EC2}"/>
              </a:ext>
            </a:extLst>
          </p:cNvPr>
          <p:cNvSpPr/>
          <p:nvPr/>
        </p:nvSpPr>
        <p:spPr>
          <a:xfrm>
            <a:off x="-1636400" y="2209800"/>
            <a:ext cx="3142209" cy="458074"/>
          </a:xfrm>
          <a:prstGeom prst="rect">
            <a:avLst/>
          </a:prstGeom>
        </p:spPr>
        <p:txBody>
          <a:bodyPr wrap="square">
            <a:spAutoFit/>
          </a:bodyPr>
          <a:lstStyle/>
          <a:p>
            <a:pPr lvl="1" algn="just">
              <a:lnSpc>
                <a:spcPct val="150000"/>
              </a:lnSpc>
            </a:pPr>
            <a:endParaRPr lang="en-US" i="1" dirty="0">
              <a:latin typeface="Times New Roman" pitchFamily="18" charset="0"/>
              <a:cs typeface="Times New Roman" pitchFamily="18" charset="0"/>
            </a:endParaRPr>
          </a:p>
        </p:txBody>
      </p:sp>
      <p:pic>
        <p:nvPicPr>
          <p:cNvPr id="10" name="Picture 2" descr="Swollen cervical lymph nodes: What does it mean?">
            <a:extLst>
              <a:ext uri="{FF2B5EF4-FFF2-40B4-BE49-F238E27FC236}">
                <a16:creationId xmlns:a16="http://schemas.microsoft.com/office/drawing/2014/main" id="{520A9BCE-F802-1285-8C26-2E3E85F7C0E9}"/>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1666" t="10873" r="20002" b="20141"/>
          <a:stretch/>
        </p:blipFill>
        <p:spPr bwMode="auto">
          <a:xfrm>
            <a:off x="182880" y="1811990"/>
            <a:ext cx="2148840" cy="148430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Understanding the Stages, Treatment, and Symptoms of Oral Cancer">
            <a:extLst>
              <a:ext uri="{FF2B5EF4-FFF2-40B4-BE49-F238E27FC236}">
                <a16:creationId xmlns:a16="http://schemas.microsoft.com/office/drawing/2014/main" id="{F350FCA2-ED12-03A5-B616-3CEA3300F0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77279" y="1811991"/>
            <a:ext cx="2057399" cy="148430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DF0F2C8-E14B-3ACD-37CF-4B110C46447C}"/>
              </a:ext>
            </a:extLst>
          </p:cNvPr>
          <p:cNvSpPr txBox="1"/>
          <p:nvPr/>
        </p:nvSpPr>
        <p:spPr>
          <a:xfrm>
            <a:off x="4680238" y="1825987"/>
            <a:ext cx="4280882" cy="1200329"/>
          </a:xfrm>
          <a:prstGeom prst="rect">
            <a:avLst/>
          </a:prstGeom>
          <a:noFill/>
        </p:spPr>
        <p:txBody>
          <a:bodyPr wrap="square" rtlCol="0">
            <a:spAutoFit/>
          </a:bodyPr>
          <a:lstStyle/>
          <a:p>
            <a:r>
              <a:rPr lang="en-US" b="1" i="0" dirty="0">
                <a:solidFill>
                  <a:srgbClr val="000000"/>
                </a:solidFill>
                <a:effectLst/>
                <a:latin typeface="Times New Roman" panose="02020603050405020304" pitchFamily="18" charset="0"/>
                <a:cs typeface="Times New Roman" panose="02020603050405020304" pitchFamily="18" charset="0"/>
              </a:rPr>
              <a:t>STAGE 3</a:t>
            </a:r>
            <a:r>
              <a:rPr lang="en-US" b="0" i="0" dirty="0">
                <a:solidFill>
                  <a:srgbClr val="000000"/>
                </a:solidFill>
                <a:effectLst/>
                <a:latin typeface="Times New Roman" panose="02020603050405020304" pitchFamily="18" charset="0"/>
                <a:cs typeface="Times New Roman" panose="02020603050405020304" pitchFamily="18" charset="0"/>
              </a:rPr>
              <a:t>: The tumor is larger than 4 cm or the cancer has spread to one lymph node in the neck on the same side as the tumor and the lymph node is 3 cm or smaller.</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45935BC-8CBA-7D24-B6C0-B28E1F8519B3}"/>
              </a:ext>
            </a:extLst>
          </p:cNvPr>
          <p:cNvSpPr txBox="1"/>
          <p:nvPr/>
        </p:nvSpPr>
        <p:spPr>
          <a:xfrm>
            <a:off x="2590800" y="3561705"/>
            <a:ext cx="6370320" cy="2862322"/>
          </a:xfrm>
          <a:prstGeom prst="rect">
            <a:avLst/>
          </a:prstGeom>
          <a:noFill/>
        </p:spPr>
        <p:txBody>
          <a:bodyPr wrap="square" rtlCol="0">
            <a:spAutoFit/>
          </a:bodyPr>
          <a:lstStyle/>
          <a:p>
            <a:r>
              <a:rPr lang="en-US" b="1" dirty="0">
                <a:effectLst/>
                <a:latin typeface="Times New Roman" panose="02020603050405020304" pitchFamily="18" charset="0"/>
                <a:cs typeface="Times New Roman" panose="02020603050405020304" pitchFamily="18" charset="0"/>
              </a:rPr>
              <a:t>STAGE 4</a:t>
            </a:r>
            <a:r>
              <a:rPr lang="en-US" dirty="0">
                <a:effectLst/>
                <a:latin typeface="Times New Roman" panose="02020603050405020304" pitchFamily="18" charset="0"/>
                <a:cs typeface="Times New Roman" panose="02020603050405020304" pitchFamily="18" charset="0"/>
              </a:rPr>
              <a:t>:The tumor is any size and has grown into any of the following:</a:t>
            </a:r>
          </a:p>
          <a:p>
            <a:pPr>
              <a:buFont typeface="Arial" panose="020B0604020202020204" pitchFamily="34" charset="0"/>
              <a:buChar char="•"/>
            </a:pPr>
            <a:r>
              <a:rPr lang="en-US" dirty="0">
                <a:effectLst/>
                <a:latin typeface="Times New Roman" panose="02020603050405020304" pitchFamily="18" charset="0"/>
                <a:cs typeface="Times New Roman" panose="02020603050405020304" pitchFamily="18" charset="0"/>
              </a:rPr>
              <a:t>the bone in the palate or lower jaw</a:t>
            </a:r>
          </a:p>
          <a:p>
            <a:pPr>
              <a:buFont typeface="Arial" panose="020B0604020202020204" pitchFamily="34" charset="0"/>
              <a:buChar char="•"/>
            </a:pPr>
            <a:r>
              <a:rPr lang="en-US" dirty="0">
                <a:effectLst/>
                <a:latin typeface="Times New Roman" panose="02020603050405020304" pitchFamily="18" charset="0"/>
                <a:cs typeface="Times New Roman" panose="02020603050405020304" pitchFamily="18" charset="0"/>
              </a:rPr>
              <a:t>a nerve in the lower jaw called the inferior alveolar nerve</a:t>
            </a:r>
          </a:p>
          <a:p>
            <a:pPr>
              <a:buFont typeface="Arial" panose="020B0604020202020204" pitchFamily="34" charset="0"/>
              <a:buChar char="•"/>
            </a:pPr>
            <a:r>
              <a:rPr lang="en-US" dirty="0">
                <a:effectLst/>
                <a:latin typeface="Times New Roman" panose="02020603050405020304" pitchFamily="18" charset="0"/>
                <a:cs typeface="Times New Roman" panose="02020603050405020304" pitchFamily="18" charset="0"/>
              </a:rPr>
              <a:t>floor of the mouth</a:t>
            </a:r>
          </a:p>
          <a:p>
            <a:pPr>
              <a:buFont typeface="Arial" panose="020B0604020202020204" pitchFamily="34" charset="0"/>
              <a:buChar char="•"/>
            </a:pPr>
            <a:r>
              <a:rPr lang="en-US" dirty="0">
                <a:effectLst/>
                <a:latin typeface="Times New Roman" panose="02020603050405020304" pitchFamily="18" charset="0"/>
                <a:cs typeface="Times New Roman" panose="02020603050405020304" pitchFamily="18" charset="0"/>
              </a:rPr>
              <a:t>skin of the face</a:t>
            </a:r>
          </a:p>
          <a:p>
            <a:r>
              <a:rPr lang="en-US" dirty="0">
                <a:effectLst/>
                <a:latin typeface="Times New Roman" panose="02020603050405020304" pitchFamily="18" charset="0"/>
                <a:cs typeface="Times New Roman" panose="02020603050405020304" pitchFamily="18" charset="0"/>
              </a:rPr>
              <a:t>The cancer may also have spread to 1 or more lymph nodes in the neck, and they are 6 cm or smaller.</a:t>
            </a:r>
          </a:p>
          <a:p>
            <a:br>
              <a:rPr lang="en-US" dirty="0">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2054" name="Picture 6" descr="10 steps to perform an oral cancer screening | Dentistry IQ">
            <a:extLst>
              <a:ext uri="{FF2B5EF4-FFF2-40B4-BE49-F238E27FC236}">
                <a16:creationId xmlns:a16="http://schemas.microsoft.com/office/drawing/2014/main" id="{A9D7E3A5-19BA-7586-DF25-26A070735796}"/>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7501" t="4022" r="22832" b="860"/>
          <a:stretch/>
        </p:blipFill>
        <p:spPr bwMode="auto">
          <a:xfrm>
            <a:off x="182879" y="3400071"/>
            <a:ext cx="2179321" cy="16764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What Are the Oral Cancer Stages?">
            <a:extLst>
              <a:ext uri="{FF2B5EF4-FFF2-40B4-BE49-F238E27FC236}">
                <a16:creationId xmlns:a16="http://schemas.microsoft.com/office/drawing/2014/main" id="{75B924F4-75A2-D654-845C-36960D4C928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880" y="5180244"/>
            <a:ext cx="2179320" cy="16393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5182C-BDAA-860B-287D-2388D0C10A5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725CBC-35EF-6F1A-1DFC-BA3937D942EB}"/>
              </a:ext>
            </a:extLst>
          </p:cNvPr>
          <p:cNvSpPr>
            <a:spLocks noGrp="1"/>
          </p:cNvSpPr>
          <p:nvPr>
            <p:ph type="sldNum" sz="quarter" idx="12"/>
          </p:nvPr>
        </p:nvSpPr>
        <p:spPr/>
        <p:txBody>
          <a:bodyPr/>
          <a:lstStyle/>
          <a:p>
            <a:fld id="{B6F15528-21DE-4FAA-801E-634DDDAF4B2B}" type="slidenum">
              <a:rPr lang="en-US" smtClean="0"/>
              <a:pPr/>
              <a:t>15</a:t>
            </a:fld>
            <a:endParaRPr lang="en-US"/>
          </a:p>
        </p:txBody>
      </p:sp>
      <p:grpSp>
        <p:nvGrpSpPr>
          <p:cNvPr id="3" name="Group 2">
            <a:extLst>
              <a:ext uri="{FF2B5EF4-FFF2-40B4-BE49-F238E27FC236}">
                <a16:creationId xmlns:a16="http://schemas.microsoft.com/office/drawing/2014/main" id="{70B8DAD3-56A4-F8D9-4F84-DFCF1F7F2F2E}"/>
              </a:ext>
            </a:extLst>
          </p:cNvPr>
          <p:cNvGrpSpPr/>
          <p:nvPr/>
        </p:nvGrpSpPr>
        <p:grpSpPr>
          <a:xfrm>
            <a:off x="182880" y="136525"/>
            <a:ext cx="8778240" cy="1341120"/>
            <a:chOff x="213360" y="182880"/>
            <a:chExt cx="8778240" cy="1341120"/>
          </a:xfrm>
        </p:grpSpPr>
        <p:pic>
          <p:nvPicPr>
            <p:cNvPr id="4" name="Picture 3">
              <a:extLst>
                <a:ext uri="{FF2B5EF4-FFF2-40B4-BE49-F238E27FC236}">
                  <a16:creationId xmlns:a16="http://schemas.microsoft.com/office/drawing/2014/main" id="{8CE88BFC-3239-1280-5AFD-97A566D0217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1143000" cy="1123950"/>
            </a:xfrm>
            <a:prstGeom prst="rect">
              <a:avLst/>
            </a:prstGeom>
            <a:noFill/>
            <a:ln>
              <a:noFill/>
            </a:ln>
          </p:spPr>
        </p:pic>
        <p:pic>
          <p:nvPicPr>
            <p:cNvPr id="5" name="Picture 2" descr="Related image">
              <a:extLst>
                <a:ext uri="{FF2B5EF4-FFF2-40B4-BE49-F238E27FC236}">
                  <a16:creationId xmlns:a16="http://schemas.microsoft.com/office/drawing/2014/main" id="{D2DAAA0D-6DF9-6C12-3646-5FB13660CCF1}"/>
                </a:ext>
              </a:extLst>
            </p:cNvPr>
            <p:cNvPicPr>
              <a:picLocks noChangeAspect="1" noChangeArrowheads="1"/>
            </p:cNvPicPr>
            <p:nvPr/>
          </p:nvPicPr>
          <p:blipFill>
            <a:blip r:embed="rId3" cstate="print"/>
            <a:srcRect/>
            <a:stretch>
              <a:fillRect/>
            </a:stretch>
          </p:blipFill>
          <p:spPr bwMode="auto">
            <a:xfrm>
              <a:off x="7772400" y="182880"/>
              <a:ext cx="1188720" cy="1188720"/>
            </a:xfrm>
            <a:prstGeom prst="rect">
              <a:avLst/>
            </a:prstGeom>
            <a:noFill/>
          </p:spPr>
        </p:pic>
        <p:cxnSp>
          <p:nvCxnSpPr>
            <p:cNvPr id="6" name="Straight Connector 5">
              <a:extLst>
                <a:ext uri="{FF2B5EF4-FFF2-40B4-BE49-F238E27FC236}">
                  <a16:creationId xmlns:a16="http://schemas.microsoft.com/office/drawing/2014/main" id="{F941137E-62AB-55D5-9710-DE71CA9BFAD8}"/>
                </a:ext>
              </a:extLst>
            </p:cNvPr>
            <p:cNvCxnSpPr/>
            <p:nvPr/>
          </p:nvCxnSpPr>
          <p:spPr>
            <a:xfrm>
              <a:off x="213360" y="1524000"/>
              <a:ext cx="8778240"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F7BD9317-67FE-FE3A-5C61-914393D18493}"/>
                </a:ext>
              </a:extLst>
            </p:cNvPr>
            <p:cNvSpPr txBox="1"/>
            <p:nvPr/>
          </p:nvSpPr>
          <p:spPr>
            <a:xfrm>
              <a:off x="2632106" y="533400"/>
              <a:ext cx="3979295" cy="707886"/>
            </a:xfrm>
            <a:prstGeom prst="rect">
              <a:avLst/>
            </a:prstGeom>
            <a:noFill/>
          </p:spPr>
          <p:txBody>
            <a:bodyPr wrap="none" rtlCol="0">
              <a:spAutoFit/>
            </a:bodyPr>
            <a:lstStyle/>
            <a:p>
              <a:pPr algn="ctr"/>
              <a:r>
                <a:rPr lang="en-US" sz="4000" b="1" dirty="0">
                  <a:latin typeface="Times New Roman" panose="02020603050405020304" pitchFamily="18" charset="0"/>
                  <a:cs typeface="Times New Roman" pitchFamily="18" charset="0"/>
                </a:rPr>
                <a:t>INPUT IMAGES</a:t>
              </a:r>
            </a:p>
          </p:txBody>
        </p:sp>
      </p:grpSp>
      <p:pic>
        <p:nvPicPr>
          <p:cNvPr id="10" name="Picture 9">
            <a:extLst>
              <a:ext uri="{FF2B5EF4-FFF2-40B4-BE49-F238E27FC236}">
                <a16:creationId xmlns:a16="http://schemas.microsoft.com/office/drawing/2014/main" id="{975235E9-B8AC-62B7-9A9D-0AF9BB3B95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29626" y="4400944"/>
            <a:ext cx="2140668" cy="1778719"/>
          </a:xfrm>
          <a:prstGeom prst="rect">
            <a:avLst/>
          </a:prstGeom>
        </p:spPr>
      </p:pic>
      <p:pic>
        <p:nvPicPr>
          <p:cNvPr id="12" name="Picture 11">
            <a:extLst>
              <a:ext uri="{FF2B5EF4-FFF2-40B4-BE49-F238E27FC236}">
                <a16:creationId xmlns:a16="http://schemas.microsoft.com/office/drawing/2014/main" id="{0CFB5BCA-3606-9340-2471-9F2B6637E7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400" y="4419600"/>
            <a:ext cx="2133599" cy="1760063"/>
          </a:xfrm>
          <a:prstGeom prst="rect">
            <a:avLst/>
          </a:prstGeom>
        </p:spPr>
      </p:pic>
      <p:pic>
        <p:nvPicPr>
          <p:cNvPr id="14" name="Picture 13">
            <a:extLst>
              <a:ext uri="{FF2B5EF4-FFF2-40B4-BE49-F238E27FC236}">
                <a16:creationId xmlns:a16="http://schemas.microsoft.com/office/drawing/2014/main" id="{F01D2555-36D9-43F0-0697-03E207064F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52246" y="2340108"/>
            <a:ext cx="2118048" cy="1760062"/>
          </a:xfrm>
          <a:prstGeom prst="rect">
            <a:avLst/>
          </a:prstGeom>
        </p:spPr>
      </p:pic>
      <p:pic>
        <p:nvPicPr>
          <p:cNvPr id="16" name="Picture 15">
            <a:extLst>
              <a:ext uri="{FF2B5EF4-FFF2-40B4-BE49-F238E27FC236}">
                <a16:creationId xmlns:a16="http://schemas.microsoft.com/office/drawing/2014/main" id="{958C4F60-E1F1-419C-B81C-60B569ECE07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1060" y="2349162"/>
            <a:ext cx="2133600" cy="1760063"/>
          </a:xfrm>
          <a:prstGeom prst="rect">
            <a:avLst/>
          </a:prstGeom>
        </p:spPr>
      </p:pic>
      <p:sp>
        <p:nvSpPr>
          <p:cNvPr id="19" name="TextBox 18">
            <a:extLst>
              <a:ext uri="{FF2B5EF4-FFF2-40B4-BE49-F238E27FC236}">
                <a16:creationId xmlns:a16="http://schemas.microsoft.com/office/drawing/2014/main" id="{75F18133-3087-6918-7244-83C866055CCD}"/>
              </a:ext>
            </a:extLst>
          </p:cNvPr>
          <p:cNvSpPr txBox="1"/>
          <p:nvPr/>
        </p:nvSpPr>
        <p:spPr>
          <a:xfrm>
            <a:off x="841155" y="1739000"/>
            <a:ext cx="3581400"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NON-CANCER IMAGES</a:t>
            </a:r>
            <a:endParaRPr lang="en-IN" sz="2000" b="1"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219EB2C-77CD-A5CB-572E-F642EDD04E24}"/>
              </a:ext>
            </a:extLst>
          </p:cNvPr>
          <p:cNvSpPr txBox="1"/>
          <p:nvPr/>
        </p:nvSpPr>
        <p:spPr>
          <a:xfrm flipH="1">
            <a:off x="5104157" y="1739000"/>
            <a:ext cx="3320469"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ORAL CANCER IMAGES</a:t>
            </a:r>
            <a:endParaRPr lang="en-IN" sz="2000" b="1" dirty="0">
              <a:latin typeface="Times New Roman" panose="02020603050405020304" pitchFamily="18" charset="0"/>
              <a:cs typeface="Times New Roman" panose="02020603050405020304" pitchFamily="18" charset="0"/>
            </a:endParaRPr>
          </a:p>
        </p:txBody>
      </p:sp>
      <p:pic>
        <p:nvPicPr>
          <p:cNvPr id="22" name="Picture 21">
            <a:extLst>
              <a:ext uri="{FF2B5EF4-FFF2-40B4-BE49-F238E27FC236}">
                <a16:creationId xmlns:a16="http://schemas.microsoft.com/office/drawing/2014/main" id="{9BB17C19-7E2E-0D9A-CE91-6F798FD8C53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64389" y="4419600"/>
            <a:ext cx="2125117" cy="1760062"/>
          </a:xfrm>
          <a:prstGeom prst="rect">
            <a:avLst/>
          </a:prstGeom>
        </p:spPr>
      </p:pic>
      <p:pic>
        <p:nvPicPr>
          <p:cNvPr id="24" name="Picture 23">
            <a:extLst>
              <a:ext uri="{FF2B5EF4-FFF2-40B4-BE49-F238E27FC236}">
                <a16:creationId xmlns:a16="http://schemas.microsoft.com/office/drawing/2014/main" id="{671F697B-904A-2582-BB6F-40897AF7D42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623724" y="2358411"/>
            <a:ext cx="2140668" cy="1741563"/>
          </a:xfrm>
          <a:prstGeom prst="rect">
            <a:avLst/>
          </a:prstGeom>
        </p:spPr>
      </p:pic>
      <p:pic>
        <p:nvPicPr>
          <p:cNvPr id="26" name="Picture 25">
            <a:extLst>
              <a:ext uri="{FF2B5EF4-FFF2-40B4-BE49-F238E27FC236}">
                <a16:creationId xmlns:a16="http://schemas.microsoft.com/office/drawing/2014/main" id="{FC9F1C0D-A2FD-5F91-A372-E2F79680229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26126" y="4402064"/>
            <a:ext cx="2140668" cy="1760062"/>
          </a:xfrm>
          <a:prstGeom prst="rect">
            <a:avLst/>
          </a:prstGeom>
        </p:spPr>
      </p:pic>
      <p:pic>
        <p:nvPicPr>
          <p:cNvPr id="28" name="Picture 27">
            <a:extLst>
              <a:ext uri="{FF2B5EF4-FFF2-40B4-BE49-F238E27FC236}">
                <a16:creationId xmlns:a16="http://schemas.microsoft.com/office/drawing/2014/main" id="{5070A499-E276-9478-CDE1-DE01D08590F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842223" y="2358411"/>
            <a:ext cx="2140668" cy="1760062"/>
          </a:xfrm>
          <a:prstGeom prst="rect">
            <a:avLst/>
          </a:prstGeom>
        </p:spPr>
      </p:pic>
    </p:spTree>
    <p:extLst>
      <p:ext uri="{BB962C8B-B14F-4D97-AF65-F5344CB8AC3E}">
        <p14:creationId xmlns:p14="http://schemas.microsoft.com/office/powerpoint/2010/main" val="1277457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1043F-8E4C-04D1-4D73-DC9458E7A47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91F068-D8F2-7915-6059-D7148F7B0273}"/>
              </a:ext>
            </a:extLst>
          </p:cNvPr>
          <p:cNvSpPr>
            <a:spLocks noGrp="1"/>
          </p:cNvSpPr>
          <p:nvPr>
            <p:ph type="sldNum" sz="quarter" idx="12"/>
          </p:nvPr>
        </p:nvSpPr>
        <p:spPr/>
        <p:txBody>
          <a:bodyPr/>
          <a:lstStyle/>
          <a:p>
            <a:fld id="{B6F15528-21DE-4FAA-801E-634DDDAF4B2B}" type="slidenum">
              <a:rPr lang="en-US" smtClean="0"/>
              <a:pPr/>
              <a:t>16</a:t>
            </a:fld>
            <a:endParaRPr lang="en-US"/>
          </a:p>
        </p:txBody>
      </p:sp>
      <p:grpSp>
        <p:nvGrpSpPr>
          <p:cNvPr id="3" name="Group 2">
            <a:extLst>
              <a:ext uri="{FF2B5EF4-FFF2-40B4-BE49-F238E27FC236}">
                <a16:creationId xmlns:a16="http://schemas.microsoft.com/office/drawing/2014/main" id="{64F7C249-4DC5-86BE-38ED-387437464B01}"/>
              </a:ext>
            </a:extLst>
          </p:cNvPr>
          <p:cNvGrpSpPr/>
          <p:nvPr/>
        </p:nvGrpSpPr>
        <p:grpSpPr>
          <a:xfrm>
            <a:off x="213360" y="182880"/>
            <a:ext cx="8778240" cy="1341120"/>
            <a:chOff x="213360" y="182880"/>
            <a:chExt cx="8778240" cy="1341120"/>
          </a:xfrm>
        </p:grpSpPr>
        <p:pic>
          <p:nvPicPr>
            <p:cNvPr id="4" name="Picture 3">
              <a:extLst>
                <a:ext uri="{FF2B5EF4-FFF2-40B4-BE49-F238E27FC236}">
                  <a16:creationId xmlns:a16="http://schemas.microsoft.com/office/drawing/2014/main" id="{97F9BF4F-2495-1FB2-8CCA-5EE18527147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1143000" cy="1123950"/>
            </a:xfrm>
            <a:prstGeom prst="rect">
              <a:avLst/>
            </a:prstGeom>
            <a:noFill/>
            <a:ln>
              <a:noFill/>
            </a:ln>
          </p:spPr>
        </p:pic>
        <p:pic>
          <p:nvPicPr>
            <p:cNvPr id="5" name="Picture 2" descr="Related image">
              <a:extLst>
                <a:ext uri="{FF2B5EF4-FFF2-40B4-BE49-F238E27FC236}">
                  <a16:creationId xmlns:a16="http://schemas.microsoft.com/office/drawing/2014/main" id="{5FC71492-B128-C101-1039-0C44F4154C50}"/>
                </a:ext>
              </a:extLst>
            </p:cNvPr>
            <p:cNvPicPr>
              <a:picLocks noChangeAspect="1" noChangeArrowheads="1"/>
            </p:cNvPicPr>
            <p:nvPr/>
          </p:nvPicPr>
          <p:blipFill>
            <a:blip r:embed="rId3" cstate="print"/>
            <a:srcRect/>
            <a:stretch>
              <a:fillRect/>
            </a:stretch>
          </p:blipFill>
          <p:spPr bwMode="auto">
            <a:xfrm>
              <a:off x="7772400" y="182880"/>
              <a:ext cx="1188720" cy="1188720"/>
            </a:xfrm>
            <a:prstGeom prst="rect">
              <a:avLst/>
            </a:prstGeom>
            <a:noFill/>
          </p:spPr>
        </p:pic>
        <p:cxnSp>
          <p:nvCxnSpPr>
            <p:cNvPr id="6" name="Straight Connector 5">
              <a:extLst>
                <a:ext uri="{FF2B5EF4-FFF2-40B4-BE49-F238E27FC236}">
                  <a16:creationId xmlns:a16="http://schemas.microsoft.com/office/drawing/2014/main" id="{1FB5C047-2E56-A52B-B2D3-AA75CC14A7A7}"/>
                </a:ext>
              </a:extLst>
            </p:cNvPr>
            <p:cNvCxnSpPr/>
            <p:nvPr/>
          </p:nvCxnSpPr>
          <p:spPr>
            <a:xfrm>
              <a:off x="213360" y="1524000"/>
              <a:ext cx="8778240"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4B843057-1D59-C4E2-F309-B5527D8F25C9}"/>
                </a:ext>
              </a:extLst>
            </p:cNvPr>
            <p:cNvSpPr txBox="1"/>
            <p:nvPr/>
          </p:nvSpPr>
          <p:spPr>
            <a:xfrm>
              <a:off x="3242203" y="533400"/>
              <a:ext cx="2759090" cy="584775"/>
            </a:xfrm>
            <a:prstGeom prst="rect">
              <a:avLst/>
            </a:prstGeom>
            <a:noFill/>
          </p:spPr>
          <p:txBody>
            <a:bodyPr wrap="none" rtlCol="0">
              <a:spAutoFit/>
            </a:bodyPr>
            <a:lstStyle/>
            <a:p>
              <a:pPr algn="ctr"/>
              <a:r>
                <a:rPr lang="en-US" sz="3200" dirty="0">
                  <a:latin typeface="Times New Roman" pitchFamily="18" charset="0"/>
                  <a:cs typeface="Times New Roman" pitchFamily="18" charset="0"/>
                </a:rPr>
                <a:t>REFERENCES</a:t>
              </a:r>
              <a:endParaRPr lang="en-US" sz="3200" b="1" dirty="0">
                <a:latin typeface="Times New Roman" pitchFamily="18" charset="0"/>
                <a:cs typeface="Times New Roman" pitchFamily="18" charset="0"/>
              </a:endParaRPr>
            </a:p>
          </p:txBody>
        </p:sp>
      </p:grpSp>
      <p:sp>
        <p:nvSpPr>
          <p:cNvPr id="8" name="Rectangle 7">
            <a:extLst>
              <a:ext uri="{FF2B5EF4-FFF2-40B4-BE49-F238E27FC236}">
                <a16:creationId xmlns:a16="http://schemas.microsoft.com/office/drawing/2014/main" id="{2C336B02-6B28-4BA0-B418-3ECFF3787D17}"/>
              </a:ext>
            </a:extLst>
          </p:cNvPr>
          <p:cNvSpPr/>
          <p:nvPr/>
        </p:nvSpPr>
        <p:spPr>
          <a:xfrm>
            <a:off x="609600" y="2136339"/>
            <a:ext cx="8001000" cy="2585323"/>
          </a:xfrm>
          <a:prstGeom prst="rect">
            <a:avLst/>
          </a:prstGeom>
        </p:spPr>
        <p:txBody>
          <a:bodyPr wrap="square">
            <a:spAutoFit/>
          </a:bodyPr>
          <a:lstStyle/>
          <a:p>
            <a:pPr algn="just">
              <a:lnSpc>
                <a:spcPct val="150000"/>
              </a:lnSpc>
              <a:buFont typeface="Wingdings" pitchFamily="2" charset="2"/>
              <a:buChar char="Ø"/>
            </a:pPr>
            <a:r>
              <a:rPr lang="en-US" dirty="0"/>
              <a:t> </a:t>
            </a:r>
            <a:r>
              <a:rPr lang="en-US" dirty="0" err="1">
                <a:latin typeface="Times New Roman" pitchFamily="18" charset="0"/>
                <a:cs typeface="Times New Roman" pitchFamily="18" charset="0"/>
              </a:rPr>
              <a:t>Dempster</a:t>
            </a:r>
            <a:r>
              <a:rPr lang="en-US" dirty="0">
                <a:latin typeface="Times New Roman" pitchFamily="18" charset="0"/>
                <a:cs typeface="Times New Roman" pitchFamily="18" charset="0"/>
              </a:rPr>
              <a:t>, A.G., and Macleod M.D. : “ Use of minimum adder multiplier blocks in FIR digital </a:t>
            </a:r>
            <a:r>
              <a:rPr lang="en-US" dirty="0" err="1">
                <a:latin typeface="Times New Roman" pitchFamily="18" charset="0"/>
                <a:cs typeface="Times New Roman" pitchFamily="18" charset="0"/>
              </a:rPr>
              <a:t>filtes</a:t>
            </a:r>
            <a:r>
              <a:rPr lang="en-US" dirty="0">
                <a:latin typeface="Times New Roman" pitchFamily="18" charset="0"/>
                <a:cs typeface="Times New Roman" pitchFamily="18" charset="0"/>
              </a:rPr>
              <a:t>”. </a:t>
            </a:r>
            <a:r>
              <a:rPr lang="en-US" i="1" dirty="0">
                <a:latin typeface="Times New Roman" pitchFamily="18" charset="0"/>
                <a:cs typeface="Times New Roman" pitchFamily="18" charset="0"/>
              </a:rPr>
              <a:t>IEEE Trans. Circuits Syst. II, Analog Digital Signal Process., 1995, 42, (9), pp 569 – 577.</a:t>
            </a:r>
          </a:p>
          <a:p>
            <a:pPr algn="just">
              <a:lnSpc>
                <a:spcPct val="150000"/>
              </a:lnSpc>
              <a:buFont typeface="Wingdings" pitchFamily="2" charset="2"/>
              <a:buNone/>
            </a:pPr>
            <a:endParaRPr lang="en-US" i="1" dirty="0">
              <a:latin typeface="Times New Roman" pitchFamily="18" charset="0"/>
              <a:cs typeface="Times New Roman" pitchFamily="18" charset="0"/>
            </a:endParaRPr>
          </a:p>
          <a:p>
            <a:pPr algn="just">
              <a:lnSpc>
                <a:spcPct val="150000"/>
              </a:lnSpc>
              <a:buFont typeface="Wingdings" pitchFamily="2" charset="2"/>
              <a:buChar char="Ø"/>
            </a:pPr>
            <a:r>
              <a:rPr lang="en-US" dirty="0">
                <a:latin typeface="Times New Roman" pitchFamily="18" charset="0"/>
                <a:cs typeface="Times New Roman" pitchFamily="18" charset="0"/>
              </a:rPr>
              <a:t> Bull, D.R. and </a:t>
            </a:r>
            <a:r>
              <a:rPr lang="en-US" dirty="0" err="1">
                <a:latin typeface="Times New Roman" pitchFamily="18" charset="0"/>
                <a:cs typeface="Times New Roman" pitchFamily="18" charset="0"/>
              </a:rPr>
              <a:t>Horrocks</a:t>
            </a:r>
            <a:r>
              <a:rPr lang="en-US" dirty="0">
                <a:latin typeface="Times New Roman" pitchFamily="18" charset="0"/>
                <a:cs typeface="Times New Roman" pitchFamily="18" charset="0"/>
              </a:rPr>
              <a:t>, D.H.: “Primitive operator digital filters”. </a:t>
            </a:r>
            <a:r>
              <a:rPr lang="en-US" i="1" dirty="0">
                <a:latin typeface="Times New Roman" pitchFamily="18" charset="0"/>
                <a:cs typeface="Times New Roman" pitchFamily="18" charset="0"/>
              </a:rPr>
              <a:t>IEEE Proc.       G. Circuits Devices Syst., 1991, 138, (3), pp, 401 – 412.</a:t>
            </a:r>
          </a:p>
        </p:txBody>
      </p:sp>
    </p:spTree>
    <p:extLst>
      <p:ext uri="{BB962C8B-B14F-4D97-AF65-F5344CB8AC3E}">
        <p14:creationId xmlns:p14="http://schemas.microsoft.com/office/powerpoint/2010/main" val="2683350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17</a:t>
            </a:fld>
            <a:endParaRPr lang="en-US"/>
          </a:p>
        </p:txBody>
      </p:sp>
      <p:pic>
        <p:nvPicPr>
          <p:cNvPr id="1026" name="Picture 2" descr="Image result for thank you"/>
          <p:cNvPicPr>
            <a:picLocks noChangeAspect="1" noChangeArrowheads="1"/>
          </p:cNvPicPr>
          <p:nvPr/>
        </p:nvPicPr>
        <p:blipFill>
          <a:blip r:embed="rId2" cstate="print"/>
          <a:srcRect/>
          <a:stretch>
            <a:fillRect/>
          </a:stretch>
        </p:blipFill>
        <p:spPr bwMode="auto">
          <a:xfrm>
            <a:off x="685800" y="990600"/>
            <a:ext cx="7951636" cy="4480560"/>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683</TotalTime>
  <Words>1679</Words>
  <Application>Microsoft Office PowerPoint</Application>
  <PresentationFormat>On-screen Show (4:3)</PresentationFormat>
  <Paragraphs>146</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Söhne</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dc:creator>
  <cp:lastModifiedBy>AKSHAYA B.C</cp:lastModifiedBy>
  <cp:revision>42</cp:revision>
  <dcterms:created xsi:type="dcterms:W3CDTF">2006-08-16T00:00:00Z</dcterms:created>
  <dcterms:modified xsi:type="dcterms:W3CDTF">2024-02-10T07:35:33Z</dcterms:modified>
</cp:coreProperties>
</file>